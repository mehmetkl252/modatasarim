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78" r:id="rId3"/>
    <p:sldId id="266" r:id="rId4"/>
    <p:sldId id="267" r:id="rId5"/>
    <p:sldId id="268" r:id="rId6"/>
    <p:sldId id="269" r:id="rId7"/>
    <p:sldId id="270" r:id="rId8"/>
    <p:sldId id="271" r:id="rId9"/>
    <p:sldId id="272" r:id="rId10"/>
    <p:sldId id="273" r:id="rId11"/>
    <p:sldId id="274" r:id="rId12"/>
    <p:sldId id="275" r:id="rId13"/>
    <p:sldId id="279" r:id="rId14"/>
    <p:sldId id="276" r:id="rId15"/>
    <p:sldId id="262" r:id="rId16"/>
    <p:sldId id="263" r:id="rId17"/>
    <p:sldId id="264" r:id="rId18"/>
    <p:sldId id="265" r:id="rId19"/>
    <p:sldId id="256" r:id="rId20"/>
    <p:sldId id="257" r:id="rId21"/>
    <p:sldId id="258" r:id="rId22"/>
    <p:sldId id="259" r:id="rId23"/>
    <p:sldId id="260" r:id="rId24"/>
    <p:sldId id="261" r:id="rId25"/>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ARAÇLARI" id="{AB8592E0-AC58-467E-AB26-1373E550224C}">
          <p14:sldIdLst>
            <p14:sldId id="277"/>
            <p14:sldId id="278"/>
          </p14:sldIdLst>
        </p14:section>
        <p14:section name="AI Görseller ile Kıyafet Uygulayıcı Araçlar" id="{399CF090-255C-4ACD-966C-0AEDD02ACF79}">
          <p14:sldIdLst>
            <p14:sldId id="266"/>
            <p14:sldId id="267"/>
            <p14:sldId id="268"/>
            <p14:sldId id="269"/>
            <p14:sldId id="270"/>
            <p14:sldId id="271"/>
            <p14:sldId id="272"/>
            <p14:sldId id="273"/>
            <p14:sldId id="274"/>
            <p14:sldId id="275"/>
            <p14:sldId id="279"/>
            <p14:sldId id="276"/>
          </p14:sldIdLst>
        </p14:section>
        <p14:section name="style3d.ai" id="{C4E5254A-BA47-4B2F-A76F-391C70E9183F}">
          <p14:sldIdLst>
            <p14:sldId id="262"/>
          </p14:sldIdLst>
        </p14:section>
        <p14:section name="Avaturn" id="{AF782ACC-3186-4F50-9A26-14A0FD5EB455}">
          <p14:sldIdLst>
            <p14:sldId id="263"/>
          </p14:sldIdLst>
        </p14:section>
        <p14:section name="Avatar SDK" id="{EB9C916B-7AF5-46C7-BEC5-74FBB891B8A7}">
          <p14:sldIdLst>
            <p14:sldId id="264"/>
          </p14:sldIdLst>
        </p14:section>
        <p14:section name="PICTOFiT" id="{A795BB4F-9AE1-413A-B6E1-EA47E08E864C}">
          <p14:sldIdLst>
            <p14:sldId id="265"/>
          </p14:sldIdLst>
        </p14:section>
        <p14:section name="Refabric" id="{6760559F-899A-4A19-B088-140A0A2EC869}">
          <p14:sldIdLst>
            <p14:sldId id="256"/>
            <p14:sldId id="257"/>
          </p14:sldIdLst>
        </p14:section>
        <p14:section name="CLO 3D" id="{078C2F97-0AA7-43F6-9734-67E245C9916B}">
          <p14:sldIdLst>
            <p14:sldId id="258"/>
          </p14:sldIdLst>
        </p14:section>
        <p14:section name="Midjourney" id="{ED357F37-8013-4362-A083-BF7E3A86A9B5}">
          <p14:sldIdLst>
            <p14:sldId id="259"/>
          </p14:sldIdLst>
        </p14:section>
        <p14:section name="Runway" id="{C1CE0FAE-FE56-4590-AB79-A4D27BA715B7}">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tr-T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tr-TR"/>
          </a:p>
        </p:txBody>
      </p:sp>
      <p:sp>
        <p:nvSpPr>
          <p:cNvPr id="4" name="Veri Yer Tutucusu 3"/>
          <p:cNvSpPr>
            <a:spLocks noGrp="1"/>
          </p:cNvSpPr>
          <p:nvPr>
            <p:ph type="dt" sz="half" idx="10"/>
          </p:nvPr>
        </p:nvSpPr>
        <p:spPr/>
        <p:txBody>
          <a:bodyPr/>
          <a:lstStyle/>
          <a:p>
            <a:fld id="{46AEC59D-01B6-423C-9156-A1CA25F79FAC}" type="datetimeFigureOut">
              <a:rPr lang="tr-TR" smtClean="0"/>
              <a:t>18.01.2026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36164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46AEC59D-01B6-423C-9156-A1CA25F79FAC}" type="datetimeFigureOut">
              <a:rPr lang="tr-TR" smtClean="0"/>
              <a:t>18.01.2026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213508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tr-T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Veri Yer Tutucusu 3"/>
          <p:cNvSpPr>
            <a:spLocks noGrp="1"/>
          </p:cNvSpPr>
          <p:nvPr>
            <p:ph type="dt" sz="half" idx="10"/>
          </p:nvPr>
        </p:nvSpPr>
        <p:spPr/>
        <p:txBody>
          <a:bodyPr/>
          <a:lstStyle/>
          <a:p>
            <a:fld id="{46AEC59D-01B6-423C-9156-A1CA25F79FAC}" type="datetimeFigureOut">
              <a:rPr lang="tr-TR" smtClean="0"/>
              <a:t>18.01.2026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2968290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46AEC59D-01B6-423C-9156-A1CA25F79FAC}" type="datetimeFigureOut">
              <a:rPr lang="tr-TR" smtClean="0"/>
              <a:t>18.01.2026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3762942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46AEC59D-01B6-423C-9156-A1CA25F79FAC}" type="datetimeFigureOut">
              <a:rPr lang="tr-TR" smtClean="0"/>
              <a:t>18.01.2026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1055695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46AEC59D-01B6-423C-9156-A1CA25F79FAC}" type="datetimeFigureOut">
              <a:rPr lang="tr-TR" smtClean="0"/>
              <a:t>18.01.2026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493718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46AEC59D-01B6-423C-9156-A1CA25F79FAC}" type="datetimeFigureOut">
              <a:rPr lang="tr-TR" smtClean="0"/>
              <a:t>18.01.2026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313839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46AEC59D-01B6-423C-9156-A1CA25F79FAC}" type="datetimeFigureOut">
              <a:rPr lang="tr-TR" smtClean="0"/>
              <a:t>18.01.2026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1496384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46AEC59D-01B6-423C-9156-A1CA25F79FAC}" type="datetimeFigureOut">
              <a:rPr lang="tr-TR" smtClean="0"/>
              <a:t>18.01.2026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3144203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46AEC59D-01B6-423C-9156-A1CA25F79FAC}" type="datetimeFigureOut">
              <a:rPr lang="tr-TR" smtClean="0"/>
              <a:t>18.01.2026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1893639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46AEC59D-01B6-423C-9156-A1CA25F79FAC}" type="datetimeFigureOut">
              <a:rPr lang="tr-TR" smtClean="0"/>
              <a:t>18.01.2026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B653D59-29B9-4093-B3BE-9DA12B13D061}" type="slidenum">
              <a:rPr lang="tr-TR" smtClean="0"/>
              <a:t>‹#›</a:t>
            </a:fld>
            <a:endParaRPr lang="tr-TR"/>
          </a:p>
        </p:txBody>
      </p:sp>
    </p:spTree>
    <p:extLst>
      <p:ext uri="{BB962C8B-B14F-4D97-AF65-F5344CB8AC3E}">
        <p14:creationId xmlns:p14="http://schemas.microsoft.com/office/powerpoint/2010/main" val="1902596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AEC59D-01B6-423C-9156-A1CA25F79FAC}" type="datetimeFigureOut">
              <a:rPr lang="tr-TR" smtClean="0"/>
              <a:t>18.01.2026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653D59-29B9-4093-B3BE-9DA12B13D061}" type="slidenum">
              <a:rPr lang="tr-TR" smtClean="0"/>
              <a:t>‹#›</a:t>
            </a:fld>
            <a:endParaRPr lang="tr-TR"/>
          </a:p>
        </p:txBody>
      </p:sp>
    </p:spTree>
    <p:extLst>
      <p:ext uri="{BB962C8B-B14F-4D97-AF65-F5344CB8AC3E}">
        <p14:creationId xmlns:p14="http://schemas.microsoft.com/office/powerpoint/2010/main" val="3823015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fashionaitool.com/" TargetMode="External"/><Relationship Id="rId2" Type="http://schemas.openxmlformats.org/officeDocument/2006/relationships/hyperlink" Target="https://www.fashionaitool.com/?utm_source=chatgpt.com" TargetMode="External"/><Relationship Id="rId1" Type="http://schemas.openxmlformats.org/officeDocument/2006/relationships/slideLayout" Target="../slideLayouts/slideLayout7.xml"/><Relationship Id="rId6" Type="http://schemas.openxmlformats.org/officeDocument/2006/relationships/hyperlink" Target="https://www.crescendo.ai/blog/best-ai-tools-for-fashion-and-clothing-industries?utm_source=chatgpt.com" TargetMode="External"/><Relationship Id="rId5" Type="http://schemas.openxmlformats.org/officeDocument/2006/relationships/hyperlink" Target="https://aitryon.art/?utm_source=chatgpt.com" TargetMode="External"/><Relationship Id="rId4" Type="http://schemas.openxmlformats.org/officeDocument/2006/relationships/hyperlink" Target="https://fashn.ai/?utm_source=chatgpt.com"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www.fashionaitool.com/"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archigpt.ai/"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newarc.ai/"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activereality.com/pictofit?utm_source=chatgpt.com" TargetMode="External"/><Relationship Id="rId2" Type="http://schemas.openxmlformats.org/officeDocument/2006/relationships/hyperlink" Target="https://www.reactivereality.com/"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www.photoroom.com/industry/clothing-and-apparel"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www.style3d.ai/blog/what-is-the-best-free-ai-fashion-model-generator-online/?utm_source=chatgpt.com"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avaturn.me/?utm_source=chatgpt.com"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o 1"/>
          <p:cNvGraphicFramePr>
            <a:graphicFrameLocks noGrp="1"/>
          </p:cNvGraphicFramePr>
          <p:nvPr>
            <p:extLst>
              <p:ext uri="{D42A27DB-BD31-4B8C-83A1-F6EECF244321}">
                <p14:modId xmlns:p14="http://schemas.microsoft.com/office/powerpoint/2010/main" val="763210247"/>
              </p:ext>
            </p:extLst>
          </p:nvPr>
        </p:nvGraphicFramePr>
        <p:xfrm>
          <a:off x="539261" y="969707"/>
          <a:ext cx="10515600" cy="3108960"/>
        </p:xfrm>
        <a:graphic>
          <a:graphicData uri="http://schemas.openxmlformats.org/drawingml/2006/table">
            <a:tbl>
              <a:tblPr/>
              <a:tblGrid>
                <a:gridCol w="3505200">
                  <a:extLst>
                    <a:ext uri="{9D8B030D-6E8A-4147-A177-3AD203B41FA5}">
                      <a16:colId xmlns:a16="http://schemas.microsoft.com/office/drawing/2014/main" val="205395419"/>
                    </a:ext>
                  </a:extLst>
                </a:gridCol>
                <a:gridCol w="3505200">
                  <a:extLst>
                    <a:ext uri="{9D8B030D-6E8A-4147-A177-3AD203B41FA5}">
                      <a16:colId xmlns:a16="http://schemas.microsoft.com/office/drawing/2014/main" val="3475827951"/>
                    </a:ext>
                  </a:extLst>
                </a:gridCol>
                <a:gridCol w="3505200">
                  <a:extLst>
                    <a:ext uri="{9D8B030D-6E8A-4147-A177-3AD203B41FA5}">
                      <a16:colId xmlns:a16="http://schemas.microsoft.com/office/drawing/2014/main" val="1485927617"/>
                    </a:ext>
                  </a:extLst>
                </a:gridCol>
              </a:tblGrid>
              <a:tr h="0">
                <a:tc>
                  <a:txBody>
                    <a:bodyPr/>
                    <a:lstStyle/>
                    <a:p>
                      <a:r>
                        <a:rPr lang="tr-TR"/>
                        <a:t>Yazılım / Araç</a:t>
                      </a:r>
                    </a:p>
                  </a:txBody>
                  <a:tcPr anchor="ctr">
                    <a:lnL>
                      <a:noFill/>
                    </a:lnL>
                    <a:lnR>
                      <a:noFill/>
                    </a:lnR>
                    <a:lnT>
                      <a:noFill/>
                    </a:lnT>
                    <a:lnB>
                      <a:noFill/>
                    </a:lnB>
                  </a:tcPr>
                </a:tc>
                <a:tc>
                  <a:txBody>
                    <a:bodyPr/>
                    <a:lstStyle/>
                    <a:p>
                      <a:r>
                        <a:rPr lang="tr-TR"/>
                        <a:t>Kısa Tanım</a:t>
                      </a:r>
                    </a:p>
                  </a:txBody>
                  <a:tcPr anchor="ctr">
                    <a:lnL>
                      <a:noFill/>
                    </a:lnL>
                    <a:lnR>
                      <a:noFill/>
                    </a:lnR>
                    <a:lnT>
                      <a:noFill/>
                    </a:lnT>
                    <a:lnB>
                      <a:noFill/>
                    </a:lnB>
                  </a:tcPr>
                </a:tc>
                <a:tc>
                  <a:txBody>
                    <a:bodyPr/>
                    <a:lstStyle/>
                    <a:p>
                      <a:r>
                        <a:rPr lang="tr-TR"/>
                        <a:t>AI Özelliği</a:t>
                      </a:r>
                    </a:p>
                  </a:txBody>
                  <a:tcPr anchor="ctr">
                    <a:lnL>
                      <a:noFill/>
                    </a:lnL>
                    <a:lnR>
                      <a:noFill/>
                    </a:lnR>
                    <a:lnT>
                      <a:noFill/>
                    </a:lnT>
                    <a:lnB>
                      <a:noFill/>
                    </a:lnB>
                  </a:tcPr>
                </a:tc>
                <a:extLst>
                  <a:ext uri="{0D108BD9-81ED-4DB2-BD59-A6C34878D82A}">
                    <a16:rowId xmlns:a16="http://schemas.microsoft.com/office/drawing/2014/main" val="655676933"/>
                  </a:ext>
                </a:extLst>
              </a:tr>
              <a:tr h="0">
                <a:tc>
                  <a:txBody>
                    <a:bodyPr/>
                    <a:lstStyle/>
                    <a:p>
                      <a:r>
                        <a:rPr lang="tr-TR" b="1"/>
                        <a:t>CLO 3D</a:t>
                      </a:r>
                      <a:endParaRPr lang="tr-TR"/>
                    </a:p>
                  </a:txBody>
                  <a:tcPr anchor="ctr">
                    <a:lnL>
                      <a:noFill/>
                    </a:lnL>
                    <a:lnR>
                      <a:noFill/>
                    </a:lnR>
                    <a:lnT>
                      <a:noFill/>
                    </a:lnT>
                    <a:lnB>
                      <a:noFill/>
                    </a:lnB>
                  </a:tcPr>
                </a:tc>
                <a:tc>
                  <a:txBody>
                    <a:bodyPr/>
                    <a:lstStyle/>
                    <a:p>
                      <a:r>
                        <a:rPr lang="tr-TR" dirty="0"/>
                        <a:t>Moda CAD + 3D tasarım</a:t>
                      </a:r>
                    </a:p>
                  </a:txBody>
                  <a:tcPr anchor="ctr">
                    <a:lnL>
                      <a:noFill/>
                    </a:lnL>
                    <a:lnR>
                      <a:noFill/>
                    </a:lnR>
                    <a:lnT>
                      <a:noFill/>
                    </a:lnT>
                    <a:lnB>
                      <a:noFill/>
                    </a:lnB>
                  </a:tcPr>
                </a:tc>
                <a:tc>
                  <a:txBody>
                    <a:bodyPr/>
                    <a:lstStyle/>
                    <a:p>
                      <a:r>
                        <a:rPr lang="tr-TR"/>
                        <a:t>Kumaş simulasyonu &amp; dijital prova</a:t>
                      </a:r>
                    </a:p>
                  </a:txBody>
                  <a:tcPr anchor="ctr">
                    <a:lnL>
                      <a:noFill/>
                    </a:lnL>
                    <a:lnR>
                      <a:noFill/>
                    </a:lnR>
                    <a:lnT>
                      <a:noFill/>
                    </a:lnT>
                    <a:lnB>
                      <a:noFill/>
                    </a:lnB>
                  </a:tcPr>
                </a:tc>
                <a:extLst>
                  <a:ext uri="{0D108BD9-81ED-4DB2-BD59-A6C34878D82A}">
                    <a16:rowId xmlns:a16="http://schemas.microsoft.com/office/drawing/2014/main" val="619865613"/>
                  </a:ext>
                </a:extLst>
              </a:tr>
              <a:tr h="0">
                <a:tc>
                  <a:txBody>
                    <a:bodyPr/>
                    <a:lstStyle/>
                    <a:p>
                      <a:r>
                        <a:rPr lang="tr-TR" b="1"/>
                        <a:t>Style3D AI</a:t>
                      </a:r>
                      <a:endParaRPr lang="tr-TR"/>
                    </a:p>
                  </a:txBody>
                  <a:tcPr anchor="ctr">
                    <a:lnL>
                      <a:noFill/>
                    </a:lnL>
                    <a:lnR>
                      <a:noFill/>
                    </a:lnR>
                    <a:lnT>
                      <a:noFill/>
                    </a:lnT>
                    <a:lnB>
                      <a:noFill/>
                    </a:lnB>
                  </a:tcPr>
                </a:tc>
                <a:tc>
                  <a:txBody>
                    <a:bodyPr/>
                    <a:lstStyle/>
                    <a:p>
                      <a:r>
                        <a:rPr lang="tr-TR" dirty="0"/>
                        <a:t>3D moda &amp; sanal podyum</a:t>
                      </a:r>
                    </a:p>
                  </a:txBody>
                  <a:tcPr anchor="ctr">
                    <a:lnL>
                      <a:noFill/>
                    </a:lnL>
                    <a:lnR>
                      <a:noFill/>
                    </a:lnR>
                    <a:lnT>
                      <a:noFill/>
                    </a:lnT>
                    <a:lnB>
                      <a:noFill/>
                    </a:lnB>
                  </a:tcPr>
                </a:tc>
                <a:tc>
                  <a:txBody>
                    <a:bodyPr/>
                    <a:lstStyle/>
                    <a:p>
                      <a:r>
                        <a:rPr lang="tr-TR"/>
                        <a:t>AI tabanlı fiziksel kumaş davranışı</a:t>
                      </a:r>
                    </a:p>
                  </a:txBody>
                  <a:tcPr anchor="ctr">
                    <a:lnL>
                      <a:noFill/>
                    </a:lnL>
                    <a:lnR>
                      <a:noFill/>
                    </a:lnR>
                    <a:lnT>
                      <a:noFill/>
                    </a:lnT>
                    <a:lnB>
                      <a:noFill/>
                    </a:lnB>
                  </a:tcPr>
                </a:tc>
                <a:extLst>
                  <a:ext uri="{0D108BD9-81ED-4DB2-BD59-A6C34878D82A}">
                    <a16:rowId xmlns:a16="http://schemas.microsoft.com/office/drawing/2014/main" val="3365405502"/>
                  </a:ext>
                </a:extLst>
              </a:tr>
              <a:tr h="0">
                <a:tc>
                  <a:txBody>
                    <a:bodyPr/>
                    <a:lstStyle/>
                    <a:p>
                      <a:r>
                        <a:rPr lang="tr-TR" b="1" dirty="0" err="1"/>
                        <a:t>Avaturn</a:t>
                      </a:r>
                      <a:r>
                        <a:rPr lang="tr-TR" b="1" dirty="0"/>
                        <a:t> / </a:t>
                      </a:r>
                      <a:r>
                        <a:rPr lang="tr-TR" b="1" dirty="0" err="1"/>
                        <a:t>Avatar</a:t>
                      </a:r>
                      <a:r>
                        <a:rPr lang="tr-TR" b="1" dirty="0"/>
                        <a:t> SDK</a:t>
                      </a:r>
                      <a:endParaRPr lang="tr-TR" dirty="0"/>
                    </a:p>
                  </a:txBody>
                  <a:tcPr anchor="ctr">
                    <a:lnL>
                      <a:noFill/>
                    </a:lnL>
                    <a:lnR>
                      <a:noFill/>
                    </a:lnR>
                    <a:lnT>
                      <a:noFill/>
                    </a:lnT>
                    <a:lnB>
                      <a:noFill/>
                    </a:lnB>
                  </a:tcPr>
                </a:tc>
                <a:tc>
                  <a:txBody>
                    <a:bodyPr/>
                    <a:lstStyle/>
                    <a:p>
                      <a:r>
                        <a:rPr lang="tr-TR"/>
                        <a:t>3D avatar oluşturma</a:t>
                      </a:r>
                    </a:p>
                  </a:txBody>
                  <a:tcPr anchor="ctr">
                    <a:lnL>
                      <a:noFill/>
                    </a:lnL>
                    <a:lnR>
                      <a:noFill/>
                    </a:lnR>
                    <a:lnT>
                      <a:noFill/>
                    </a:lnT>
                    <a:lnB>
                      <a:noFill/>
                    </a:lnB>
                  </a:tcPr>
                </a:tc>
                <a:tc>
                  <a:txBody>
                    <a:bodyPr/>
                    <a:lstStyle/>
                    <a:p>
                      <a:r>
                        <a:rPr lang="pl-PL"/>
                        <a:t>AI ile yüz → tam 3D model</a:t>
                      </a:r>
                    </a:p>
                  </a:txBody>
                  <a:tcPr anchor="ctr">
                    <a:lnL>
                      <a:noFill/>
                    </a:lnL>
                    <a:lnR>
                      <a:noFill/>
                    </a:lnR>
                    <a:lnT>
                      <a:noFill/>
                    </a:lnT>
                    <a:lnB>
                      <a:noFill/>
                    </a:lnB>
                  </a:tcPr>
                </a:tc>
                <a:extLst>
                  <a:ext uri="{0D108BD9-81ED-4DB2-BD59-A6C34878D82A}">
                    <a16:rowId xmlns:a16="http://schemas.microsoft.com/office/drawing/2014/main" val="1383920122"/>
                  </a:ext>
                </a:extLst>
              </a:tr>
              <a:tr h="0">
                <a:tc>
                  <a:txBody>
                    <a:bodyPr/>
                    <a:lstStyle/>
                    <a:p>
                      <a:r>
                        <a:rPr lang="tr-TR" b="1"/>
                        <a:t>Fashion AI Tool</a:t>
                      </a:r>
                      <a:endParaRPr lang="tr-TR"/>
                    </a:p>
                  </a:txBody>
                  <a:tcPr anchor="ctr">
                    <a:lnL>
                      <a:noFill/>
                    </a:lnL>
                    <a:lnR>
                      <a:noFill/>
                    </a:lnR>
                    <a:lnT>
                      <a:noFill/>
                    </a:lnT>
                    <a:lnB>
                      <a:noFill/>
                    </a:lnB>
                  </a:tcPr>
                </a:tc>
                <a:tc>
                  <a:txBody>
                    <a:bodyPr/>
                    <a:lstStyle/>
                    <a:p>
                      <a:r>
                        <a:rPr lang="tr-TR"/>
                        <a:t>Taslaktan görsellere</a:t>
                      </a:r>
                    </a:p>
                  </a:txBody>
                  <a:tcPr anchor="ctr">
                    <a:lnL>
                      <a:noFill/>
                    </a:lnL>
                    <a:lnR>
                      <a:noFill/>
                    </a:lnR>
                    <a:lnT>
                      <a:noFill/>
                    </a:lnT>
                    <a:lnB>
                      <a:noFill/>
                    </a:lnB>
                  </a:tcPr>
                </a:tc>
                <a:tc>
                  <a:txBody>
                    <a:bodyPr/>
                    <a:lstStyle/>
                    <a:p>
                      <a:r>
                        <a:rPr lang="tr-TR"/>
                        <a:t>AI ile otomatik tasarım görselleştirme</a:t>
                      </a:r>
                    </a:p>
                  </a:txBody>
                  <a:tcPr anchor="ctr">
                    <a:lnL>
                      <a:noFill/>
                    </a:lnL>
                    <a:lnR>
                      <a:noFill/>
                    </a:lnR>
                    <a:lnT>
                      <a:noFill/>
                    </a:lnT>
                    <a:lnB>
                      <a:noFill/>
                    </a:lnB>
                  </a:tcPr>
                </a:tc>
                <a:extLst>
                  <a:ext uri="{0D108BD9-81ED-4DB2-BD59-A6C34878D82A}">
                    <a16:rowId xmlns:a16="http://schemas.microsoft.com/office/drawing/2014/main" val="2434595703"/>
                  </a:ext>
                </a:extLst>
              </a:tr>
              <a:tr h="0">
                <a:tc>
                  <a:txBody>
                    <a:bodyPr/>
                    <a:lstStyle/>
                    <a:p>
                      <a:r>
                        <a:rPr lang="tr-TR" b="1"/>
                        <a:t>FASHN AI</a:t>
                      </a:r>
                      <a:endParaRPr lang="tr-TR"/>
                    </a:p>
                  </a:txBody>
                  <a:tcPr anchor="ctr">
                    <a:lnL>
                      <a:noFill/>
                    </a:lnL>
                    <a:lnR>
                      <a:noFill/>
                    </a:lnR>
                    <a:lnT>
                      <a:noFill/>
                    </a:lnT>
                    <a:lnB>
                      <a:noFill/>
                    </a:lnB>
                  </a:tcPr>
                </a:tc>
                <a:tc>
                  <a:txBody>
                    <a:bodyPr/>
                    <a:lstStyle/>
                    <a:p>
                      <a:r>
                        <a:rPr lang="tr-TR"/>
                        <a:t>Model tabanlı görsel üretim</a:t>
                      </a:r>
                    </a:p>
                  </a:txBody>
                  <a:tcPr anchor="ctr">
                    <a:lnL>
                      <a:noFill/>
                    </a:lnL>
                    <a:lnR>
                      <a:noFill/>
                    </a:lnR>
                    <a:lnT>
                      <a:noFill/>
                    </a:lnT>
                    <a:lnB>
                      <a:noFill/>
                    </a:lnB>
                  </a:tcPr>
                </a:tc>
                <a:tc>
                  <a:txBody>
                    <a:bodyPr/>
                    <a:lstStyle/>
                    <a:p>
                      <a:r>
                        <a:rPr lang="tr-TR"/>
                        <a:t>AI model simülasyonu</a:t>
                      </a:r>
                    </a:p>
                  </a:txBody>
                  <a:tcPr anchor="ctr">
                    <a:lnL>
                      <a:noFill/>
                    </a:lnL>
                    <a:lnR>
                      <a:noFill/>
                    </a:lnR>
                    <a:lnT>
                      <a:noFill/>
                    </a:lnT>
                    <a:lnB>
                      <a:noFill/>
                    </a:lnB>
                  </a:tcPr>
                </a:tc>
                <a:extLst>
                  <a:ext uri="{0D108BD9-81ED-4DB2-BD59-A6C34878D82A}">
                    <a16:rowId xmlns:a16="http://schemas.microsoft.com/office/drawing/2014/main" val="4130186758"/>
                  </a:ext>
                </a:extLst>
              </a:tr>
              <a:tr h="0">
                <a:tc>
                  <a:txBody>
                    <a:bodyPr/>
                    <a:lstStyle/>
                    <a:p>
                      <a:r>
                        <a:rPr lang="tr-TR" b="1" dirty="0"/>
                        <a:t>AI </a:t>
                      </a:r>
                      <a:r>
                        <a:rPr lang="tr-TR" b="1" dirty="0" err="1"/>
                        <a:t>Try</a:t>
                      </a:r>
                      <a:r>
                        <a:rPr lang="tr-TR" b="1" dirty="0"/>
                        <a:t> On</a:t>
                      </a:r>
                      <a:endParaRPr lang="tr-TR" dirty="0"/>
                    </a:p>
                  </a:txBody>
                  <a:tcPr anchor="ctr">
                    <a:lnL>
                      <a:noFill/>
                    </a:lnL>
                    <a:lnR>
                      <a:noFill/>
                    </a:lnR>
                    <a:lnT>
                      <a:noFill/>
                    </a:lnT>
                    <a:lnB>
                      <a:noFill/>
                    </a:lnB>
                  </a:tcPr>
                </a:tc>
                <a:tc>
                  <a:txBody>
                    <a:bodyPr/>
                    <a:lstStyle/>
                    <a:p>
                      <a:r>
                        <a:rPr lang="tr-TR" dirty="0"/>
                        <a:t>Sanal deneme</a:t>
                      </a:r>
                    </a:p>
                  </a:txBody>
                  <a:tcPr anchor="ctr">
                    <a:lnL>
                      <a:noFill/>
                    </a:lnL>
                    <a:lnR>
                      <a:noFill/>
                    </a:lnR>
                    <a:lnT>
                      <a:noFill/>
                    </a:lnT>
                    <a:lnB>
                      <a:noFill/>
                    </a:lnB>
                  </a:tcPr>
                </a:tc>
                <a:tc>
                  <a:txBody>
                    <a:bodyPr/>
                    <a:lstStyle/>
                    <a:p>
                      <a:r>
                        <a:rPr lang="tr-TR" dirty="0"/>
                        <a:t>AI ile fotoğraf üzeri kıyafet simülasyonu</a:t>
                      </a:r>
                    </a:p>
                  </a:txBody>
                  <a:tcPr anchor="ctr">
                    <a:lnL>
                      <a:noFill/>
                    </a:lnL>
                    <a:lnR>
                      <a:noFill/>
                    </a:lnR>
                    <a:lnT>
                      <a:noFill/>
                    </a:lnT>
                    <a:lnB>
                      <a:noFill/>
                    </a:lnB>
                  </a:tcPr>
                </a:tc>
                <a:extLst>
                  <a:ext uri="{0D108BD9-81ED-4DB2-BD59-A6C34878D82A}">
                    <a16:rowId xmlns:a16="http://schemas.microsoft.com/office/drawing/2014/main" val="1380206508"/>
                  </a:ext>
                </a:extLst>
              </a:tr>
            </a:tbl>
          </a:graphicData>
        </a:graphic>
      </p:graphicFrame>
    </p:spTree>
    <p:extLst>
      <p:ext uri="{BB962C8B-B14F-4D97-AF65-F5344CB8AC3E}">
        <p14:creationId xmlns:p14="http://schemas.microsoft.com/office/powerpoint/2010/main" val="1034093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69630" y="709724"/>
            <a:ext cx="10984524" cy="4832092"/>
          </a:xfrm>
          <a:prstGeom prst="rect">
            <a:avLst/>
          </a:prstGeom>
        </p:spPr>
        <p:txBody>
          <a:bodyPr wrap="square">
            <a:spAutoFit/>
          </a:bodyPr>
          <a:lstStyle/>
          <a:p>
            <a:r>
              <a:rPr lang="tr-TR" sz="2800" b="1" dirty="0"/>
              <a:t>Kısa Süreç Önerisi (Eğitim Akışı)</a:t>
            </a:r>
          </a:p>
          <a:p>
            <a:r>
              <a:rPr lang="tr-TR" sz="2800" dirty="0"/>
              <a:t>📌 </a:t>
            </a:r>
            <a:r>
              <a:rPr lang="tr-TR" sz="2800" b="1" dirty="0"/>
              <a:t>1. </a:t>
            </a:r>
            <a:r>
              <a:rPr lang="tr-TR" sz="2800" b="1" dirty="0" err="1"/>
              <a:t>Sketch</a:t>
            </a:r>
            <a:r>
              <a:rPr lang="tr-TR" sz="2800" b="1" dirty="0"/>
              <a:t> → Dijital Tasarım</a:t>
            </a:r>
            <a:r>
              <a:rPr lang="tr-TR" sz="2800" dirty="0"/>
              <a:t/>
            </a:r>
            <a:br>
              <a:rPr lang="tr-TR" sz="2800" dirty="0"/>
            </a:br>
            <a:r>
              <a:rPr lang="tr-TR" sz="2800" dirty="0"/>
              <a:t>• El ile çizilen eskizi tarama → </a:t>
            </a:r>
            <a:r>
              <a:rPr lang="tr-TR" sz="2800" dirty="0" err="1"/>
              <a:t>Fashion</a:t>
            </a:r>
            <a:r>
              <a:rPr lang="tr-TR" sz="2800" dirty="0"/>
              <a:t> AI </a:t>
            </a:r>
            <a:r>
              <a:rPr lang="tr-TR" sz="2800" dirty="0" err="1"/>
              <a:t>Tool</a:t>
            </a:r>
            <a:r>
              <a:rPr lang="tr-TR" sz="2800" dirty="0"/>
              <a:t> ile dijital görsele dönüştürme</a:t>
            </a:r>
          </a:p>
          <a:p>
            <a:r>
              <a:rPr lang="tr-TR" sz="2800" dirty="0"/>
              <a:t>📌 </a:t>
            </a:r>
            <a:r>
              <a:rPr lang="tr-TR" sz="2800" b="1" dirty="0"/>
              <a:t>2. 3D Modelleme &amp; Giydirme</a:t>
            </a:r>
            <a:r>
              <a:rPr lang="tr-TR" sz="2800" dirty="0"/>
              <a:t/>
            </a:r>
            <a:br>
              <a:rPr lang="tr-TR" sz="2800" dirty="0"/>
            </a:br>
            <a:r>
              <a:rPr lang="tr-TR" sz="2800" dirty="0"/>
              <a:t>• Modeli CLO 3D veya Style3D </a:t>
            </a:r>
            <a:r>
              <a:rPr lang="tr-TR" sz="2800" dirty="0" err="1"/>
              <a:t>AI’de</a:t>
            </a:r>
            <a:r>
              <a:rPr lang="tr-TR" sz="2800" dirty="0"/>
              <a:t> 3D </a:t>
            </a:r>
            <a:r>
              <a:rPr lang="tr-TR" sz="2800" dirty="0" err="1"/>
              <a:t>avatar</a:t>
            </a:r>
            <a:r>
              <a:rPr lang="tr-TR" sz="2800" dirty="0"/>
              <a:t> üzerinde </a:t>
            </a:r>
            <a:r>
              <a:rPr lang="tr-TR" sz="2800" dirty="0" err="1"/>
              <a:t>simüle</a:t>
            </a:r>
            <a:r>
              <a:rPr lang="tr-TR" sz="2800" dirty="0"/>
              <a:t> etme</a:t>
            </a:r>
          </a:p>
          <a:p>
            <a:r>
              <a:rPr lang="tr-TR" sz="2800" dirty="0"/>
              <a:t>📌 </a:t>
            </a:r>
            <a:r>
              <a:rPr lang="tr-TR" sz="2800" b="1" dirty="0"/>
              <a:t>3. Sanal Podyum &amp; Sunum</a:t>
            </a:r>
            <a:r>
              <a:rPr lang="tr-TR" sz="2800" dirty="0"/>
              <a:t/>
            </a:r>
            <a:br>
              <a:rPr lang="tr-TR" sz="2800" dirty="0"/>
            </a:br>
            <a:r>
              <a:rPr lang="tr-TR" sz="2800" dirty="0"/>
              <a:t>• Style3D AI ile sanal koleksiyon defilesi oluşturma</a:t>
            </a:r>
          </a:p>
          <a:p>
            <a:r>
              <a:rPr lang="tr-TR" sz="2800" dirty="0"/>
              <a:t>📌 </a:t>
            </a:r>
            <a:r>
              <a:rPr lang="tr-TR" sz="2800" b="1" dirty="0"/>
              <a:t>4. İnteraktif Sunum / Video</a:t>
            </a:r>
            <a:r>
              <a:rPr lang="tr-TR" sz="2800" dirty="0"/>
              <a:t/>
            </a:r>
            <a:br>
              <a:rPr lang="tr-TR" sz="2800" dirty="0"/>
            </a:br>
            <a:r>
              <a:rPr lang="tr-TR" sz="2800" dirty="0"/>
              <a:t>• </a:t>
            </a:r>
            <a:r>
              <a:rPr lang="tr-TR" sz="2800" dirty="0" err="1"/>
              <a:t>YouTube’daki</a:t>
            </a:r>
            <a:r>
              <a:rPr lang="tr-TR" sz="2800" dirty="0"/>
              <a:t> örneği takip ederek gerçek zamanlı sanal giydirme </a:t>
            </a:r>
            <a:r>
              <a:rPr lang="tr-TR" sz="2800" dirty="0" err="1"/>
              <a:t>demo</a:t>
            </a:r>
            <a:r>
              <a:rPr lang="tr-TR" sz="2800" dirty="0"/>
              <a:t> yapma</a:t>
            </a:r>
          </a:p>
        </p:txBody>
      </p:sp>
    </p:spTree>
    <p:extLst>
      <p:ext uri="{BB962C8B-B14F-4D97-AF65-F5344CB8AC3E}">
        <p14:creationId xmlns:p14="http://schemas.microsoft.com/office/powerpoint/2010/main" val="392334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8232" y="619790"/>
            <a:ext cx="10711962" cy="646331"/>
          </a:xfrm>
          <a:prstGeom prst="rect">
            <a:avLst/>
          </a:prstGeom>
        </p:spPr>
        <p:txBody>
          <a:bodyPr wrap="square">
            <a:spAutoFit/>
          </a:bodyPr>
          <a:lstStyle/>
          <a:p>
            <a:r>
              <a:rPr lang="tr-TR" dirty="0"/>
              <a:t>Bu araçlar çizimden ya da görselden </a:t>
            </a:r>
            <a:r>
              <a:rPr lang="tr-TR" b="1" dirty="0"/>
              <a:t>kıyafet tasarımını AI ile otomatik oluşturma</a:t>
            </a:r>
            <a:r>
              <a:rPr lang="tr-TR" dirty="0"/>
              <a:t> ve </a:t>
            </a:r>
            <a:r>
              <a:rPr lang="tr-TR" b="1" dirty="0" err="1"/>
              <a:t>avatar</a:t>
            </a:r>
            <a:r>
              <a:rPr lang="tr-TR" dirty="0"/>
              <a:t> üzerinde deneyerek sunma sağlar:</a:t>
            </a:r>
          </a:p>
        </p:txBody>
      </p:sp>
      <p:sp>
        <p:nvSpPr>
          <p:cNvPr id="3" name="Dikdörtgen 2"/>
          <p:cNvSpPr/>
          <p:nvPr/>
        </p:nvSpPr>
        <p:spPr>
          <a:xfrm>
            <a:off x="691661" y="1683493"/>
            <a:ext cx="10720754" cy="2031325"/>
          </a:xfrm>
          <a:prstGeom prst="rect">
            <a:avLst/>
          </a:prstGeom>
        </p:spPr>
        <p:txBody>
          <a:bodyPr wrap="square">
            <a:spAutoFit/>
          </a:bodyPr>
          <a:lstStyle/>
          <a:p>
            <a:r>
              <a:rPr lang="tr-TR" dirty="0"/>
              <a:t>✔️ </a:t>
            </a:r>
            <a:r>
              <a:rPr lang="tr-TR" b="1" dirty="0" err="1"/>
              <a:t>Fashion</a:t>
            </a:r>
            <a:r>
              <a:rPr lang="tr-TR" b="1" dirty="0"/>
              <a:t> AI </a:t>
            </a:r>
            <a:r>
              <a:rPr lang="tr-TR" b="1" dirty="0" err="1"/>
              <a:t>Tool</a:t>
            </a:r>
            <a:r>
              <a:rPr lang="tr-TR" dirty="0"/>
              <a:t> – Taslağı oluştur ve model üzerinde görselleştir. </a:t>
            </a:r>
            <a:r>
              <a:rPr lang="tr-TR" dirty="0" err="1">
                <a:hlinkClick r:id="rId2"/>
              </a:rPr>
              <a:t>Fashion</a:t>
            </a:r>
            <a:r>
              <a:rPr lang="tr-TR" dirty="0">
                <a:hlinkClick r:id="rId2"/>
              </a:rPr>
              <a:t> AI</a:t>
            </a:r>
            <a:r>
              <a:rPr lang="tr-TR" dirty="0"/>
              <a:t/>
            </a:r>
            <a:br>
              <a:rPr lang="tr-TR" dirty="0"/>
            </a:br>
            <a:r>
              <a:rPr lang="tr-TR" dirty="0"/>
              <a:t>👉 </a:t>
            </a:r>
            <a:r>
              <a:rPr lang="tr-TR" dirty="0">
                <a:hlinkClick r:id="rId3"/>
              </a:rPr>
              <a:t>https://www.fashionaitool.com</a:t>
            </a:r>
            <a:endParaRPr lang="tr-TR" dirty="0"/>
          </a:p>
          <a:p>
            <a:r>
              <a:rPr lang="tr-TR" dirty="0"/>
              <a:t>✔️ </a:t>
            </a:r>
            <a:r>
              <a:rPr lang="tr-TR" b="1" dirty="0"/>
              <a:t>FASHN AI</a:t>
            </a:r>
            <a:r>
              <a:rPr lang="tr-TR" dirty="0"/>
              <a:t> – AI ile model üzerinde giyim görselleştirme ve arka plan düzenleme. </a:t>
            </a:r>
            <a:r>
              <a:rPr lang="tr-TR" dirty="0" err="1">
                <a:hlinkClick r:id="rId4"/>
              </a:rPr>
              <a:t>Fashn</a:t>
            </a:r>
            <a:r>
              <a:rPr lang="tr-TR" dirty="0"/>
              <a:t/>
            </a:r>
            <a:br>
              <a:rPr lang="tr-TR" dirty="0"/>
            </a:br>
            <a:r>
              <a:rPr lang="tr-TR" dirty="0"/>
              <a:t>👉 </a:t>
            </a:r>
            <a:r>
              <a:rPr lang="tr-TR" dirty="0">
                <a:hlinkClick r:id="rId4"/>
              </a:rPr>
              <a:t>https://fashn.ai</a:t>
            </a:r>
            <a:endParaRPr lang="tr-TR" dirty="0"/>
          </a:p>
          <a:p>
            <a:r>
              <a:rPr lang="tr-TR" dirty="0"/>
              <a:t>✔️ </a:t>
            </a:r>
            <a:r>
              <a:rPr lang="tr-TR" b="1" dirty="0"/>
              <a:t>AI </a:t>
            </a:r>
            <a:r>
              <a:rPr lang="tr-TR" b="1" dirty="0" err="1"/>
              <a:t>Try</a:t>
            </a:r>
            <a:r>
              <a:rPr lang="tr-TR" b="1" dirty="0"/>
              <a:t> On (</a:t>
            </a:r>
            <a:r>
              <a:rPr lang="tr-TR" b="1" dirty="0" err="1"/>
              <a:t>aitryon.art</a:t>
            </a:r>
            <a:r>
              <a:rPr lang="tr-TR" b="1" dirty="0"/>
              <a:t>)</a:t>
            </a:r>
            <a:r>
              <a:rPr lang="tr-TR" dirty="0"/>
              <a:t> – Online ücretsiz/deneme sanal giydirme aracı. </a:t>
            </a:r>
            <a:r>
              <a:rPr lang="tr-TR" dirty="0">
                <a:hlinkClick r:id="rId5"/>
              </a:rPr>
              <a:t>AI </a:t>
            </a:r>
            <a:r>
              <a:rPr lang="tr-TR" dirty="0" err="1">
                <a:hlinkClick r:id="rId5"/>
              </a:rPr>
              <a:t>Try</a:t>
            </a:r>
            <a:r>
              <a:rPr lang="tr-TR" dirty="0">
                <a:hlinkClick r:id="rId5"/>
              </a:rPr>
              <a:t> On</a:t>
            </a:r>
            <a:r>
              <a:rPr lang="tr-TR" dirty="0"/>
              <a:t/>
            </a:r>
            <a:br>
              <a:rPr lang="tr-TR" dirty="0"/>
            </a:br>
            <a:r>
              <a:rPr lang="tr-TR" dirty="0"/>
              <a:t>👉 </a:t>
            </a:r>
            <a:r>
              <a:rPr lang="tr-TR" dirty="0">
                <a:hlinkClick r:id="rId5"/>
              </a:rPr>
              <a:t>https://aitryon.art</a:t>
            </a:r>
            <a:endParaRPr lang="tr-TR" dirty="0"/>
          </a:p>
          <a:p>
            <a:r>
              <a:rPr lang="tr-TR" dirty="0"/>
              <a:t>✔️ </a:t>
            </a:r>
            <a:r>
              <a:rPr lang="tr-TR" b="1" dirty="0"/>
              <a:t>Newarc.ai &amp; Modelia.ai</a:t>
            </a:r>
            <a:r>
              <a:rPr lang="tr-TR" dirty="0"/>
              <a:t> – Ürün görsellerini dijital modelli görseller hâline dönüştürür. </a:t>
            </a:r>
            <a:r>
              <a:rPr lang="tr-TR" dirty="0">
                <a:hlinkClick r:id="rId6"/>
              </a:rPr>
              <a:t>crescendo.ai+1</a:t>
            </a:r>
            <a:endParaRPr lang="tr-TR" dirty="0"/>
          </a:p>
        </p:txBody>
      </p:sp>
    </p:spTree>
    <p:extLst>
      <p:ext uri="{BB962C8B-B14F-4D97-AF65-F5344CB8AC3E}">
        <p14:creationId xmlns:p14="http://schemas.microsoft.com/office/powerpoint/2010/main" val="42380048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17823" y="334080"/>
            <a:ext cx="1671676" cy="369332"/>
          </a:xfrm>
          <a:prstGeom prst="rect">
            <a:avLst/>
          </a:prstGeom>
        </p:spPr>
        <p:txBody>
          <a:bodyPr wrap="none">
            <a:spAutoFit/>
          </a:bodyPr>
          <a:lstStyle/>
          <a:p>
            <a:r>
              <a:rPr lang="tr-TR" b="1" dirty="0" err="1"/>
              <a:t>Fashion</a:t>
            </a:r>
            <a:r>
              <a:rPr lang="tr-TR" b="1" dirty="0"/>
              <a:t> AI </a:t>
            </a:r>
            <a:r>
              <a:rPr lang="tr-TR" b="1" dirty="0" err="1"/>
              <a:t>Tool</a:t>
            </a:r>
            <a:r>
              <a:rPr lang="tr-TR" dirty="0"/>
              <a:t> </a:t>
            </a:r>
          </a:p>
        </p:txBody>
      </p:sp>
      <p:sp>
        <p:nvSpPr>
          <p:cNvPr id="3" name="Dikdörtgen 2"/>
          <p:cNvSpPr/>
          <p:nvPr/>
        </p:nvSpPr>
        <p:spPr>
          <a:xfrm>
            <a:off x="617823" y="1382459"/>
            <a:ext cx="5728428" cy="369332"/>
          </a:xfrm>
          <a:prstGeom prst="rect">
            <a:avLst/>
          </a:prstGeom>
        </p:spPr>
        <p:txBody>
          <a:bodyPr wrap="none">
            <a:spAutoFit/>
          </a:bodyPr>
          <a:lstStyle/>
          <a:p>
            <a:r>
              <a:rPr lang="tr-TR" dirty="0"/>
              <a:t>https://www.fashionaitool.com/?utm_source=chatgpt.com</a:t>
            </a:r>
          </a:p>
        </p:txBody>
      </p:sp>
      <p:sp>
        <p:nvSpPr>
          <p:cNvPr id="4" name="Dikdörtgen 3"/>
          <p:cNvSpPr/>
          <p:nvPr/>
        </p:nvSpPr>
        <p:spPr>
          <a:xfrm>
            <a:off x="617823" y="1883621"/>
            <a:ext cx="3122393" cy="369332"/>
          </a:xfrm>
          <a:prstGeom prst="rect">
            <a:avLst/>
          </a:prstGeom>
        </p:spPr>
        <p:txBody>
          <a:bodyPr wrap="none">
            <a:spAutoFit/>
          </a:bodyPr>
          <a:lstStyle/>
          <a:p>
            <a:r>
              <a:rPr lang="tr-TR" dirty="0">
                <a:hlinkClick r:id="rId2"/>
              </a:rPr>
              <a:t>https://www.fashionaitool.com</a:t>
            </a:r>
            <a:endParaRPr lang="tr-TR" dirty="0"/>
          </a:p>
        </p:txBody>
      </p:sp>
      <p:sp>
        <p:nvSpPr>
          <p:cNvPr id="5" name="Dikdörtgen 4"/>
          <p:cNvSpPr/>
          <p:nvPr/>
        </p:nvSpPr>
        <p:spPr>
          <a:xfrm>
            <a:off x="617823" y="2384783"/>
            <a:ext cx="10715462" cy="1754326"/>
          </a:xfrm>
          <a:prstGeom prst="rect">
            <a:avLst/>
          </a:prstGeom>
        </p:spPr>
        <p:txBody>
          <a:bodyPr wrap="square">
            <a:spAutoFit/>
          </a:bodyPr>
          <a:lstStyle/>
          <a:p>
            <a:pPr fontAlgn="base"/>
            <a:r>
              <a:rPr lang="tr-TR" b="1" cap="all" dirty="0">
                <a:solidFill>
                  <a:srgbClr val="4747F3"/>
                </a:solidFill>
                <a:latin typeface="kanit"/>
              </a:rPr>
              <a:t>En İyi Yapay Zeka Moda Tasarım Üreticisi. Sanal Deneme ve Moda Sahnesi Çiziminden Görüntüye Yapay Zeka.</a:t>
            </a:r>
          </a:p>
          <a:p>
            <a:pPr fontAlgn="base"/>
            <a:r>
              <a:rPr lang="tr-TR" dirty="0">
                <a:solidFill>
                  <a:srgbClr val="4747F3"/>
                </a:solidFill>
                <a:latin typeface="kanit"/>
              </a:rPr>
              <a:t>Yeni kıyafetleri kendiniz denemekle neden uğraşasınız ki, yapay zeka ile kendi kıyafetlerinizi oluşturabilirsiniz? Moda tasarımcınıza gerek yok! En iyi yapay zeka moda oluşturucu burada. Moda yapay zekası ile, istediğiniz kıyafetleri giyerken kendinizin fotoğraflarını inanılmaz bir hassasiyetle oluşturabilirsiniz. </a:t>
            </a:r>
            <a:endParaRPr lang="tr-TR" b="0" i="0" dirty="0">
              <a:solidFill>
                <a:srgbClr val="4747F3"/>
              </a:solidFill>
              <a:effectLst/>
              <a:latin typeface="kanit"/>
            </a:endParaRPr>
          </a:p>
        </p:txBody>
      </p:sp>
      <p:sp>
        <p:nvSpPr>
          <p:cNvPr id="6" name="Dikdörtgen 5"/>
          <p:cNvSpPr/>
          <p:nvPr/>
        </p:nvSpPr>
        <p:spPr>
          <a:xfrm>
            <a:off x="617823" y="762546"/>
            <a:ext cx="4390048" cy="369332"/>
          </a:xfrm>
          <a:prstGeom prst="rect">
            <a:avLst/>
          </a:prstGeom>
        </p:spPr>
        <p:txBody>
          <a:bodyPr wrap="none">
            <a:spAutoFit/>
          </a:bodyPr>
          <a:lstStyle/>
          <a:p>
            <a:r>
              <a:rPr lang="tr-TR" dirty="0"/>
              <a:t>Taslağı oluştur ve model üzerinde görselleştir</a:t>
            </a:r>
          </a:p>
        </p:txBody>
      </p:sp>
    </p:spTree>
    <p:extLst>
      <p:ext uri="{BB962C8B-B14F-4D97-AF65-F5344CB8AC3E}">
        <p14:creationId xmlns:p14="http://schemas.microsoft.com/office/powerpoint/2010/main" val="29162690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89438" y="914500"/>
            <a:ext cx="4377673" cy="369332"/>
          </a:xfrm>
          <a:prstGeom prst="rect">
            <a:avLst/>
          </a:prstGeom>
        </p:spPr>
        <p:txBody>
          <a:bodyPr wrap="none">
            <a:spAutoFit/>
          </a:bodyPr>
          <a:lstStyle/>
          <a:p>
            <a:r>
              <a:rPr lang="tr-TR" dirty="0"/>
              <a:t>https://www.archigpt.ai/ai-render-generator</a:t>
            </a:r>
          </a:p>
        </p:txBody>
      </p:sp>
      <p:sp>
        <p:nvSpPr>
          <p:cNvPr id="3" name="Dikdörtgen 2"/>
          <p:cNvSpPr/>
          <p:nvPr/>
        </p:nvSpPr>
        <p:spPr>
          <a:xfrm>
            <a:off x="489438" y="-224273"/>
            <a:ext cx="6096000" cy="1138773"/>
          </a:xfrm>
          <a:prstGeom prst="rect">
            <a:avLst/>
          </a:prstGeom>
        </p:spPr>
        <p:txBody>
          <a:bodyPr>
            <a:spAutoFit/>
          </a:bodyPr>
          <a:lstStyle/>
          <a:p>
            <a:pPr fontAlgn="base"/>
            <a:r>
              <a:rPr lang="tr-TR" dirty="0">
                <a:solidFill>
                  <a:srgbClr val="000000"/>
                </a:solidFill>
                <a:latin typeface="Arial" panose="020B0604020202020204" pitchFamily="34" charset="0"/>
              </a:rPr>
              <a:t/>
            </a:r>
            <a:br>
              <a:rPr lang="tr-TR" dirty="0">
                <a:solidFill>
                  <a:srgbClr val="000000"/>
                </a:solidFill>
                <a:latin typeface="Arial" panose="020B0604020202020204" pitchFamily="34" charset="0"/>
              </a:rPr>
            </a:br>
            <a:endParaRPr lang="tr-TR" dirty="0">
              <a:solidFill>
                <a:srgbClr val="000000"/>
              </a:solidFill>
              <a:latin typeface="Arial" panose="020B0604020202020204" pitchFamily="34" charset="0"/>
            </a:endParaRPr>
          </a:p>
          <a:p>
            <a:pPr fontAlgn="base"/>
            <a:r>
              <a:rPr lang="tr-TR" sz="3200" dirty="0" err="1">
                <a:solidFill>
                  <a:srgbClr val="F3F3F3"/>
                </a:solidFill>
                <a:latin typeface="georgia" panose="02040502050405020303" pitchFamily="18" charset="0"/>
                <a:hlinkClick r:id="rId2"/>
              </a:rPr>
              <a:t>ArchiGPT</a:t>
            </a:r>
            <a:endParaRPr lang="tr-TR" b="0" i="0" u="none" strike="noStrike" dirty="0">
              <a:solidFill>
                <a:srgbClr val="F3F3F3"/>
              </a:solidFill>
              <a:effectLst/>
              <a:latin typeface="georgia" panose="02040502050405020303" pitchFamily="18" charset="0"/>
            </a:endParaRPr>
          </a:p>
        </p:txBody>
      </p:sp>
      <p:pic>
        <p:nvPicPr>
          <p:cNvPr id="4" name="Resim 3"/>
          <p:cNvPicPr>
            <a:picLocks noChangeAspect="1"/>
          </p:cNvPicPr>
          <p:nvPr/>
        </p:nvPicPr>
        <p:blipFill>
          <a:blip r:embed="rId3"/>
          <a:stretch>
            <a:fillRect/>
          </a:stretch>
        </p:blipFill>
        <p:spPr>
          <a:xfrm>
            <a:off x="250999" y="1652703"/>
            <a:ext cx="11627408" cy="3776372"/>
          </a:xfrm>
          <a:prstGeom prst="rect">
            <a:avLst/>
          </a:prstGeom>
        </p:spPr>
      </p:pic>
    </p:spTree>
    <p:extLst>
      <p:ext uri="{BB962C8B-B14F-4D97-AF65-F5344CB8AC3E}">
        <p14:creationId xmlns:p14="http://schemas.microsoft.com/office/powerpoint/2010/main" val="31819455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86154" y="617612"/>
            <a:ext cx="9182100" cy="369332"/>
          </a:xfrm>
          <a:prstGeom prst="rect">
            <a:avLst/>
          </a:prstGeom>
        </p:spPr>
        <p:txBody>
          <a:bodyPr wrap="square">
            <a:spAutoFit/>
          </a:bodyPr>
          <a:lstStyle/>
          <a:p>
            <a:r>
              <a:rPr lang="tr-TR" b="1" dirty="0"/>
              <a:t>FASHN AI</a:t>
            </a:r>
            <a:r>
              <a:rPr lang="tr-TR" dirty="0"/>
              <a:t> – AI ile model üzerinde giyim görselleştirme ve arka plan düzenleme</a:t>
            </a:r>
          </a:p>
        </p:txBody>
      </p:sp>
      <p:sp>
        <p:nvSpPr>
          <p:cNvPr id="3" name="Dikdörtgen 2"/>
          <p:cNvSpPr/>
          <p:nvPr/>
        </p:nvSpPr>
        <p:spPr>
          <a:xfrm>
            <a:off x="586154" y="1758435"/>
            <a:ext cx="4244816" cy="369332"/>
          </a:xfrm>
          <a:prstGeom prst="rect">
            <a:avLst/>
          </a:prstGeom>
        </p:spPr>
        <p:txBody>
          <a:bodyPr wrap="none">
            <a:spAutoFit/>
          </a:bodyPr>
          <a:lstStyle/>
          <a:p>
            <a:r>
              <a:rPr lang="tr-TR" dirty="0"/>
              <a:t>https://fashn.ai/?utm_source=chatgpt.com</a:t>
            </a:r>
          </a:p>
        </p:txBody>
      </p:sp>
      <p:sp>
        <p:nvSpPr>
          <p:cNvPr id="4" name="Dikdörtgen 3"/>
          <p:cNvSpPr/>
          <p:nvPr/>
        </p:nvSpPr>
        <p:spPr>
          <a:xfrm>
            <a:off x="586154" y="2538772"/>
            <a:ext cx="10237178" cy="1477328"/>
          </a:xfrm>
          <a:prstGeom prst="rect">
            <a:avLst/>
          </a:prstGeom>
        </p:spPr>
        <p:txBody>
          <a:bodyPr wrap="square">
            <a:spAutoFit/>
          </a:bodyPr>
          <a:lstStyle/>
          <a:p>
            <a:r>
              <a:rPr lang="tr-TR" b="1" dirty="0">
                <a:solidFill>
                  <a:srgbClr val="1A1A1A"/>
                </a:solidFill>
                <a:latin typeface="Prata"/>
              </a:rPr>
              <a:t>Giysilerinizin, </a:t>
            </a:r>
            <a:r>
              <a:rPr lang="tr-TR" b="1" i="1" dirty="0">
                <a:solidFill>
                  <a:srgbClr val="1A1A1A"/>
                </a:solidFill>
                <a:latin typeface="Prata"/>
              </a:rPr>
              <a:t>herkes tarafından giyilmiş gibi görünen</a:t>
            </a:r>
            <a:r>
              <a:rPr lang="tr-TR" b="1" dirty="0">
                <a:solidFill>
                  <a:srgbClr val="1A1A1A"/>
                </a:solidFill>
                <a:latin typeface="Prata"/>
              </a:rPr>
              <a:t> gerçekçi görüntülerini oluşturun.</a:t>
            </a:r>
            <a:r>
              <a:rPr lang="tr-TR" dirty="0">
                <a:solidFill>
                  <a:srgbClr val="1A1A1A"/>
                </a:solidFill>
                <a:latin typeface="Prata"/>
              </a:rPr>
              <a:t/>
            </a:r>
            <a:br>
              <a:rPr lang="tr-TR" dirty="0">
                <a:solidFill>
                  <a:srgbClr val="1A1A1A"/>
                </a:solidFill>
                <a:latin typeface="Prata"/>
              </a:rPr>
            </a:br>
            <a:endParaRPr lang="tr-TR" dirty="0">
              <a:solidFill>
                <a:srgbClr val="1A1A1A"/>
              </a:solidFill>
              <a:latin typeface="Prata"/>
            </a:endParaRPr>
          </a:p>
          <a:p>
            <a:r>
              <a:rPr lang="tr-TR" dirty="0">
                <a:solidFill>
                  <a:srgbClr val="1A1A1A"/>
                </a:solidFill>
                <a:latin typeface="Onest"/>
              </a:rPr>
              <a:t>FASHN AI, markaların ve ajansların üst düzey ürün profil görselleri ve deneme deneyimleri için giyim ve aksesuarları görselleştirmelerine yardımcı olan, şirket içi yapay zeka modelleri ve moda odaklı ürünler geliştiriyor.</a:t>
            </a:r>
            <a:endParaRPr lang="tr-TR" b="0" i="0" dirty="0">
              <a:solidFill>
                <a:srgbClr val="1A1A1A"/>
              </a:solidFill>
              <a:effectLst/>
              <a:latin typeface="Onest"/>
            </a:endParaRPr>
          </a:p>
        </p:txBody>
      </p:sp>
      <p:sp>
        <p:nvSpPr>
          <p:cNvPr id="5" name="Dikdörtgen 4"/>
          <p:cNvSpPr/>
          <p:nvPr/>
        </p:nvSpPr>
        <p:spPr>
          <a:xfrm>
            <a:off x="660290" y="1213282"/>
            <a:ext cx="2504941" cy="400110"/>
          </a:xfrm>
          <a:prstGeom prst="rect">
            <a:avLst/>
          </a:prstGeom>
        </p:spPr>
        <p:txBody>
          <a:bodyPr wrap="square">
            <a:spAutoFit/>
          </a:bodyPr>
          <a:lstStyle/>
          <a:p>
            <a:r>
              <a:rPr lang="tr-TR" sz="2000" b="1" dirty="0"/>
              <a:t>https://app.fashn.ai/</a:t>
            </a:r>
          </a:p>
        </p:txBody>
      </p:sp>
    </p:spTree>
    <p:extLst>
      <p:ext uri="{BB962C8B-B14F-4D97-AF65-F5344CB8AC3E}">
        <p14:creationId xmlns:p14="http://schemas.microsoft.com/office/powerpoint/2010/main" val="37138581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25669" y="476935"/>
            <a:ext cx="9120554" cy="369332"/>
          </a:xfrm>
          <a:prstGeom prst="rect">
            <a:avLst/>
          </a:prstGeom>
        </p:spPr>
        <p:txBody>
          <a:bodyPr wrap="square">
            <a:spAutoFit/>
          </a:bodyPr>
          <a:lstStyle/>
          <a:p>
            <a:r>
              <a:rPr lang="tr-TR" b="1" dirty="0"/>
              <a:t>AI </a:t>
            </a:r>
            <a:r>
              <a:rPr lang="tr-TR" b="1" dirty="0" err="1"/>
              <a:t>Try</a:t>
            </a:r>
            <a:r>
              <a:rPr lang="tr-TR" b="1" dirty="0"/>
              <a:t> On (</a:t>
            </a:r>
            <a:r>
              <a:rPr lang="tr-TR" b="1" dirty="0" err="1"/>
              <a:t>aitryon.art</a:t>
            </a:r>
            <a:r>
              <a:rPr lang="tr-TR" b="1" dirty="0"/>
              <a:t>)</a:t>
            </a:r>
            <a:r>
              <a:rPr lang="tr-TR" dirty="0"/>
              <a:t> – Online ücretsiz/deneme sanal giydirme aracı.</a:t>
            </a:r>
          </a:p>
        </p:txBody>
      </p:sp>
      <p:sp>
        <p:nvSpPr>
          <p:cNvPr id="3" name="Dikdörtgen 2"/>
          <p:cNvSpPr/>
          <p:nvPr/>
        </p:nvSpPr>
        <p:spPr>
          <a:xfrm>
            <a:off x="225669" y="1520958"/>
            <a:ext cx="11186746" cy="1200329"/>
          </a:xfrm>
          <a:prstGeom prst="rect">
            <a:avLst/>
          </a:prstGeom>
        </p:spPr>
        <p:txBody>
          <a:bodyPr wrap="square">
            <a:spAutoFit/>
          </a:bodyPr>
          <a:lstStyle/>
          <a:p>
            <a:r>
              <a:rPr lang="tr-TR" b="1" dirty="0">
                <a:latin typeface="ui-sans-serif"/>
              </a:rPr>
              <a:t>Moda Sanal Deneme Yapay Zekası</a:t>
            </a:r>
          </a:p>
          <a:p>
            <a:r>
              <a:rPr lang="tr-TR" dirty="0">
                <a:solidFill>
                  <a:srgbClr val="000000"/>
                </a:solidFill>
                <a:latin typeface="ui-sans-serif"/>
              </a:rPr>
              <a:t>Sanal Deneme Yapay </a:t>
            </a:r>
            <a:r>
              <a:rPr lang="tr-TR" dirty="0" err="1">
                <a:solidFill>
                  <a:srgbClr val="000000"/>
                </a:solidFill>
                <a:latin typeface="ui-sans-serif"/>
              </a:rPr>
              <a:t>Zekası'nı</a:t>
            </a:r>
            <a:r>
              <a:rPr lang="tr-TR" dirty="0">
                <a:solidFill>
                  <a:srgbClr val="000000"/>
                </a:solidFill>
                <a:latin typeface="ui-sans-serif"/>
              </a:rPr>
              <a:t> deneyimleyin – kıyafetleri, dövmeleri ve saç stillerini saniyeler içinde sanal olarak denemenizi sağlayan yenilikçi bir araç. Ürün tanıtımı veya kişisel stil keşfi için anında resimler ve videolar oluşturun!</a:t>
            </a:r>
            <a:endParaRPr lang="tr-TR" b="0" i="0" dirty="0">
              <a:solidFill>
                <a:srgbClr val="000000"/>
              </a:solidFill>
              <a:effectLst/>
              <a:latin typeface="ui-sans-serif"/>
            </a:endParaRPr>
          </a:p>
        </p:txBody>
      </p:sp>
      <p:sp>
        <p:nvSpPr>
          <p:cNvPr id="4" name="Dikdörtgen 3"/>
          <p:cNvSpPr/>
          <p:nvPr/>
        </p:nvSpPr>
        <p:spPr>
          <a:xfrm>
            <a:off x="225669" y="952780"/>
            <a:ext cx="2690352" cy="461665"/>
          </a:xfrm>
          <a:prstGeom prst="rect">
            <a:avLst/>
          </a:prstGeom>
        </p:spPr>
        <p:txBody>
          <a:bodyPr wrap="none">
            <a:spAutoFit/>
          </a:bodyPr>
          <a:lstStyle/>
          <a:p>
            <a:r>
              <a:rPr lang="tr-TR" sz="2400" b="1" dirty="0"/>
              <a:t>https://aitryon.art/</a:t>
            </a:r>
          </a:p>
        </p:txBody>
      </p:sp>
      <p:sp>
        <p:nvSpPr>
          <p:cNvPr id="5" name="Dikdörtgen 4"/>
          <p:cNvSpPr/>
          <p:nvPr/>
        </p:nvSpPr>
        <p:spPr>
          <a:xfrm>
            <a:off x="225668" y="3020007"/>
            <a:ext cx="11309839" cy="1200329"/>
          </a:xfrm>
          <a:prstGeom prst="rect">
            <a:avLst/>
          </a:prstGeom>
        </p:spPr>
        <p:txBody>
          <a:bodyPr wrap="square">
            <a:spAutoFit/>
          </a:bodyPr>
          <a:lstStyle/>
          <a:p>
            <a:r>
              <a:rPr lang="tr-TR" b="1" dirty="0">
                <a:solidFill>
                  <a:srgbClr val="000000"/>
                </a:solidFill>
                <a:latin typeface="ui-sans-serif"/>
              </a:rPr>
              <a:t>Yapay Zeka Destekli Sanal Deneme - En Üstün Yapay Zeka Sanal Deneme Deneyimi</a:t>
            </a:r>
          </a:p>
          <a:p>
            <a:r>
              <a:rPr lang="tr-TR" dirty="0">
                <a:solidFill>
                  <a:srgbClr val="4D4D4D"/>
                </a:solidFill>
                <a:latin typeface="ui-sans-serif"/>
              </a:rPr>
              <a:t>Piyasadaki en gelişmiş sanal deneme yapay zeka modellerini entegre eden çevrimiçi platform AI </a:t>
            </a:r>
            <a:r>
              <a:rPr lang="tr-TR" dirty="0" err="1">
                <a:solidFill>
                  <a:srgbClr val="4D4D4D"/>
                </a:solidFill>
                <a:latin typeface="ui-sans-serif"/>
              </a:rPr>
              <a:t>Try</a:t>
            </a:r>
            <a:r>
              <a:rPr lang="tr-TR" dirty="0">
                <a:solidFill>
                  <a:srgbClr val="4D4D4D"/>
                </a:solidFill>
                <a:latin typeface="ui-sans-serif"/>
              </a:rPr>
              <a:t> </a:t>
            </a:r>
            <a:r>
              <a:rPr lang="tr-TR" dirty="0" err="1">
                <a:solidFill>
                  <a:srgbClr val="4D4D4D"/>
                </a:solidFill>
                <a:latin typeface="ui-sans-serif"/>
              </a:rPr>
              <a:t>On'u</a:t>
            </a:r>
            <a:r>
              <a:rPr lang="tr-TR" dirty="0">
                <a:solidFill>
                  <a:srgbClr val="4D4D4D"/>
                </a:solidFill>
                <a:latin typeface="ui-sans-serif"/>
              </a:rPr>
              <a:t> keşfedin. İster tasarımcı olun ister moda tutkunu, kıyafetleri hızlıca deneyin veya çarpıcı tanıtım görselleri oluşturun.</a:t>
            </a:r>
            <a:endParaRPr lang="tr-TR" b="0" i="0" dirty="0">
              <a:solidFill>
                <a:srgbClr val="4D4D4D"/>
              </a:solidFill>
              <a:effectLst/>
              <a:latin typeface="ui-sans-serif"/>
            </a:endParaRPr>
          </a:p>
        </p:txBody>
      </p:sp>
    </p:spTree>
    <p:extLst>
      <p:ext uri="{BB962C8B-B14F-4D97-AF65-F5344CB8AC3E}">
        <p14:creationId xmlns:p14="http://schemas.microsoft.com/office/powerpoint/2010/main" val="30001241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15815" y="345050"/>
            <a:ext cx="9445870" cy="369332"/>
          </a:xfrm>
          <a:prstGeom prst="rect">
            <a:avLst/>
          </a:prstGeom>
        </p:spPr>
        <p:txBody>
          <a:bodyPr wrap="square">
            <a:spAutoFit/>
          </a:bodyPr>
          <a:lstStyle/>
          <a:p>
            <a:r>
              <a:rPr lang="tr-TR" dirty="0">
                <a:solidFill>
                  <a:srgbClr val="1A1A1A"/>
                </a:solidFill>
                <a:latin typeface="Sora"/>
              </a:rPr>
              <a:t>Moda ve Giyim Markaları İçin Özenle Seçilmiş 7 Yapay Zeka Aracı</a:t>
            </a:r>
            <a:endParaRPr lang="tr-TR" b="0" i="0" dirty="0">
              <a:solidFill>
                <a:srgbClr val="1A1A1A"/>
              </a:solidFill>
              <a:effectLst/>
              <a:latin typeface="Sora"/>
            </a:endParaRPr>
          </a:p>
        </p:txBody>
      </p:sp>
      <p:sp>
        <p:nvSpPr>
          <p:cNvPr id="3" name="Dikdörtgen 2"/>
          <p:cNvSpPr/>
          <p:nvPr/>
        </p:nvSpPr>
        <p:spPr>
          <a:xfrm>
            <a:off x="167054" y="794729"/>
            <a:ext cx="12142177" cy="5509200"/>
          </a:xfrm>
          <a:prstGeom prst="rect">
            <a:avLst/>
          </a:prstGeom>
        </p:spPr>
        <p:txBody>
          <a:bodyPr wrap="square">
            <a:spAutoFit/>
          </a:bodyPr>
          <a:lstStyle/>
          <a:p>
            <a:r>
              <a:rPr lang="tr-TR" sz="1600" b="1" dirty="0">
                <a:solidFill>
                  <a:srgbClr val="1A1A1A"/>
                </a:solidFill>
                <a:latin typeface="Sora"/>
              </a:rPr>
              <a:t>2. NewArc.ai: Yapay Zeka Tasarım Platformu</a:t>
            </a:r>
          </a:p>
          <a:p>
            <a:r>
              <a:rPr lang="tr-TR" sz="1600" u="sng" dirty="0">
                <a:solidFill>
                  <a:srgbClr val="2E32FF"/>
                </a:solidFill>
                <a:latin typeface="Sora"/>
                <a:hlinkClick r:id="rId2"/>
              </a:rPr>
              <a:t>NewArc.ai,</a:t>
            </a:r>
            <a:r>
              <a:rPr lang="tr-TR" sz="1600" dirty="0">
                <a:solidFill>
                  <a:srgbClr val="1A1A1A"/>
                </a:solidFill>
                <a:latin typeface="Sora"/>
              </a:rPr>
              <a:t> moda ve giyim markaları için geliştirilmiş güçlü bir yapay zeka tasarım motorudur ve ekiplerin konseptten üretime hazır görsellere dakikalar içinde geçmesine yardımcı olur. Tasarım döngülerini önemli ölçüde kısaltır, numune maliyetlerini düşürür ve koleksiyon geliştirme sürecini hızlandırır. </a:t>
            </a:r>
          </a:p>
          <a:p>
            <a:r>
              <a:rPr lang="tr-TR" sz="1600" dirty="0">
                <a:solidFill>
                  <a:srgbClr val="1A1A1A"/>
                </a:solidFill>
                <a:latin typeface="Sora"/>
              </a:rPr>
              <a:t>İşte bu sistemin beş temel özelliğinin tasarım iş akışını nasıl dönüştürdüğü:</a:t>
            </a:r>
          </a:p>
          <a:p>
            <a:pPr>
              <a:buFont typeface="+mj-lt"/>
              <a:buAutoNum type="arabicPeriod"/>
            </a:pPr>
            <a:r>
              <a:rPr lang="tr-TR" sz="1600" b="1" dirty="0" err="1">
                <a:solidFill>
                  <a:srgbClr val="1E1331"/>
                </a:solidFill>
                <a:latin typeface="Sora"/>
              </a:rPr>
              <a:t>Sketch</a:t>
            </a:r>
            <a:r>
              <a:rPr lang="tr-TR" sz="1600" b="1" dirty="0">
                <a:solidFill>
                  <a:srgbClr val="1E1331"/>
                </a:solidFill>
                <a:latin typeface="Sora"/>
              </a:rPr>
              <a:t>-</a:t>
            </a:r>
            <a:r>
              <a:rPr lang="tr-TR" sz="1600" b="1" dirty="0" err="1">
                <a:solidFill>
                  <a:srgbClr val="1E1331"/>
                </a:solidFill>
                <a:latin typeface="Sora"/>
              </a:rPr>
              <a:t>to</a:t>
            </a:r>
            <a:r>
              <a:rPr lang="tr-TR" sz="1600" b="1" dirty="0">
                <a:solidFill>
                  <a:srgbClr val="1E1331"/>
                </a:solidFill>
                <a:latin typeface="Sora"/>
              </a:rPr>
              <a:t>-Image özelliği sayesinde</a:t>
            </a:r>
            <a:r>
              <a:rPr lang="tr-TR" sz="1600" dirty="0">
                <a:solidFill>
                  <a:srgbClr val="1E1331"/>
                </a:solidFill>
                <a:latin typeface="Sora"/>
              </a:rPr>
              <a:t/>
            </a:r>
            <a:br>
              <a:rPr lang="tr-TR" sz="1600" dirty="0">
                <a:solidFill>
                  <a:srgbClr val="1E1331"/>
                </a:solidFill>
                <a:latin typeface="Sora"/>
              </a:rPr>
            </a:br>
            <a:r>
              <a:rPr lang="tr-TR" sz="1600" dirty="0">
                <a:solidFill>
                  <a:srgbClr val="1E1331"/>
                </a:solidFill>
                <a:latin typeface="Sora"/>
              </a:rPr>
              <a:t>tasarımcılar, taslak çizimleri yükleyerek anında fotogerçekçi giysi görsellerine dönüştürebilirler. Bu, ekiplerin fiziksel örnekler oluşturmadan çok önce tasarımların mankenler üzerinde, farklı ortamlarda ve çeşitli kumaşlarla nasıl görüneceğini </a:t>
            </a:r>
            <a:r>
              <a:rPr lang="tr-TR" sz="1600" dirty="0" err="1">
                <a:solidFill>
                  <a:srgbClr val="1E1331"/>
                </a:solidFill>
                <a:latin typeface="Sora"/>
              </a:rPr>
              <a:t>önizlemelerine</a:t>
            </a:r>
            <a:r>
              <a:rPr lang="tr-TR" sz="1600" dirty="0">
                <a:solidFill>
                  <a:srgbClr val="1E1331"/>
                </a:solidFill>
                <a:latin typeface="Sora"/>
              </a:rPr>
              <a:t> yardımcı olur.</a:t>
            </a:r>
            <a:br>
              <a:rPr lang="tr-TR" sz="1600" dirty="0">
                <a:solidFill>
                  <a:srgbClr val="1E1331"/>
                </a:solidFill>
                <a:latin typeface="Sora"/>
              </a:rPr>
            </a:br>
            <a:r>
              <a:rPr lang="tr-TR" sz="1600" dirty="0" smtClean="0">
                <a:solidFill>
                  <a:srgbClr val="1E1331"/>
                </a:solidFill>
                <a:latin typeface="Sora"/>
              </a:rPr>
              <a:t>NewArc.ai </a:t>
            </a:r>
            <a:r>
              <a:rPr lang="tr-TR" sz="1600" dirty="0">
                <a:solidFill>
                  <a:srgbClr val="1E1331"/>
                </a:solidFill>
                <a:latin typeface="Sora"/>
              </a:rPr>
              <a:t>sanal deneme özelliği,</a:t>
            </a:r>
            <a:br>
              <a:rPr lang="tr-TR" sz="1600" dirty="0">
                <a:solidFill>
                  <a:srgbClr val="1E1331"/>
                </a:solidFill>
                <a:latin typeface="Sora"/>
              </a:rPr>
            </a:br>
            <a:r>
              <a:rPr lang="tr-TR" sz="1600" dirty="0">
                <a:solidFill>
                  <a:srgbClr val="1E1331"/>
                </a:solidFill>
                <a:latin typeface="Sora"/>
              </a:rPr>
              <a:t>tasarımların dijital mankenlere veya müşteri fotoğraflarına uygulanmasını sağlayarak, kalıp, </a:t>
            </a:r>
            <a:r>
              <a:rPr lang="tr-TR" sz="1600" dirty="0" err="1">
                <a:solidFill>
                  <a:srgbClr val="1E1331"/>
                </a:solidFill>
                <a:latin typeface="Sora"/>
              </a:rPr>
              <a:t>dökümlülük</a:t>
            </a:r>
            <a:r>
              <a:rPr lang="tr-TR" sz="1600" dirty="0">
                <a:solidFill>
                  <a:srgbClr val="1E1331"/>
                </a:solidFill>
                <a:latin typeface="Sora"/>
              </a:rPr>
              <a:t>, stil kombinasyonları ve genel görünümü görselleştirmeyi kolaylaştırır. Bu özellik, koleksiyon planlaması ve e-ticaret ürün teşhirlerinin geliştirilmesi için faydalıdır.</a:t>
            </a:r>
            <a:br>
              <a:rPr lang="tr-TR" sz="1600" dirty="0">
                <a:solidFill>
                  <a:srgbClr val="1E1331"/>
                </a:solidFill>
                <a:latin typeface="Sora"/>
              </a:rPr>
            </a:br>
            <a:r>
              <a:rPr lang="tr-TR" sz="1600" b="1" dirty="0" smtClean="0">
                <a:solidFill>
                  <a:srgbClr val="1E1331"/>
                </a:solidFill>
                <a:latin typeface="Sora"/>
              </a:rPr>
              <a:t>Statik</a:t>
            </a:r>
            <a:r>
              <a:rPr lang="tr-TR" sz="1600" dirty="0">
                <a:solidFill>
                  <a:srgbClr val="1E1331"/>
                </a:solidFill>
                <a:latin typeface="Sora"/>
              </a:rPr>
              <a:t/>
            </a:r>
            <a:br>
              <a:rPr lang="tr-TR" sz="1600" dirty="0">
                <a:solidFill>
                  <a:srgbClr val="1E1331"/>
                </a:solidFill>
                <a:latin typeface="Sora"/>
              </a:rPr>
            </a:br>
            <a:r>
              <a:rPr lang="tr-TR" sz="1600" dirty="0">
                <a:solidFill>
                  <a:srgbClr val="1E1331"/>
                </a:solidFill>
                <a:latin typeface="Sora"/>
              </a:rPr>
              <a:t>tasarımlar, 360° döndürme, podyum tarzı videolar veya animasyonlu ürün tanıtımları gibi dinamik kliplere dönüştürülebilir. Bu görseller, pazarlama kampanyaları, kataloglar ve ön sipariş sayfaları genelinde etkileşimi artırır.</a:t>
            </a:r>
            <a:br>
              <a:rPr lang="tr-TR" sz="1600" dirty="0">
                <a:solidFill>
                  <a:srgbClr val="1E1331"/>
                </a:solidFill>
                <a:latin typeface="Sora"/>
              </a:rPr>
            </a:br>
            <a:r>
              <a:rPr lang="tr-TR" sz="1600" dirty="0" smtClean="0">
                <a:solidFill>
                  <a:srgbClr val="1E1331"/>
                </a:solidFill>
                <a:latin typeface="Sora"/>
              </a:rPr>
              <a:t>Malzeme </a:t>
            </a:r>
            <a:r>
              <a:rPr lang="tr-TR" sz="1600" dirty="0">
                <a:solidFill>
                  <a:srgbClr val="1E1331"/>
                </a:solidFill>
                <a:latin typeface="Sora"/>
              </a:rPr>
              <a:t>simülasyonu</a:t>
            </a:r>
            <a:br>
              <a:rPr lang="tr-TR" sz="1600" dirty="0">
                <a:solidFill>
                  <a:srgbClr val="1E1331"/>
                </a:solidFill>
                <a:latin typeface="Sora"/>
              </a:rPr>
            </a:br>
            <a:r>
              <a:rPr lang="tr-TR" sz="1600" dirty="0">
                <a:solidFill>
                  <a:srgbClr val="1E1331"/>
                </a:solidFill>
                <a:latin typeface="Sora"/>
              </a:rPr>
              <a:t>tasarımcıları, ipek, kot, triko, deri veya teknik tekstil gibi farklı kumaşları inceleyebilirler. Bu, her malzemenin bir giysi üzerinde nasıl davrandığını göstererek daha hızlı karar vermeyi ve daha doğru görselleştirmeler yapmayı sağlar.</a:t>
            </a:r>
            <a:br>
              <a:rPr lang="tr-TR" sz="1600" dirty="0">
                <a:solidFill>
                  <a:srgbClr val="1E1331"/>
                </a:solidFill>
                <a:latin typeface="Sora"/>
              </a:rPr>
            </a:br>
            <a:r>
              <a:rPr lang="tr-TR" sz="1600" dirty="0" smtClean="0">
                <a:solidFill>
                  <a:srgbClr val="1E1331"/>
                </a:solidFill>
                <a:latin typeface="Sora"/>
              </a:rPr>
              <a:t>Desenler </a:t>
            </a:r>
            <a:r>
              <a:rPr lang="tr-TR" sz="1600" dirty="0">
                <a:solidFill>
                  <a:srgbClr val="1E1331"/>
                </a:solidFill>
                <a:latin typeface="Sora"/>
              </a:rPr>
              <a:t>ve Baskılar:</a:t>
            </a:r>
            <a:br>
              <a:rPr lang="tr-TR" sz="1600" dirty="0">
                <a:solidFill>
                  <a:srgbClr val="1E1331"/>
                </a:solidFill>
                <a:latin typeface="Sora"/>
              </a:rPr>
            </a:br>
            <a:r>
              <a:rPr lang="tr-TR" sz="1600" dirty="0">
                <a:solidFill>
                  <a:srgbClr val="1E1331"/>
                </a:solidFill>
                <a:latin typeface="Sora"/>
              </a:rPr>
              <a:t>Platform, özel baskılar, motifler, dokular ve desen varyasyonları oluşturarak markaların manuel kalıp çıkarma işine gerek kalmadan yeni estetik anlayışlarla denemeler yapmasına yardımcı olur.</a:t>
            </a:r>
            <a:endParaRPr lang="tr-TR" sz="1600" b="0" i="0" dirty="0">
              <a:solidFill>
                <a:srgbClr val="1E1331"/>
              </a:solidFill>
              <a:effectLst/>
              <a:latin typeface="Sora"/>
            </a:endParaRPr>
          </a:p>
        </p:txBody>
      </p:sp>
    </p:spTree>
    <p:extLst>
      <p:ext uri="{BB962C8B-B14F-4D97-AF65-F5344CB8AC3E}">
        <p14:creationId xmlns:p14="http://schemas.microsoft.com/office/powerpoint/2010/main" val="29585394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69886" y="342873"/>
            <a:ext cx="2442335" cy="369332"/>
          </a:xfrm>
          <a:prstGeom prst="rect">
            <a:avLst/>
          </a:prstGeom>
        </p:spPr>
        <p:txBody>
          <a:bodyPr wrap="none">
            <a:spAutoFit/>
          </a:bodyPr>
          <a:lstStyle/>
          <a:p>
            <a:r>
              <a:rPr lang="tr-TR" dirty="0"/>
              <a:t>https://www.newarc.ai/</a:t>
            </a:r>
          </a:p>
        </p:txBody>
      </p:sp>
      <p:sp>
        <p:nvSpPr>
          <p:cNvPr id="3" name="Dikdörtgen 2"/>
          <p:cNvSpPr/>
          <p:nvPr/>
        </p:nvSpPr>
        <p:spPr>
          <a:xfrm>
            <a:off x="469886" y="1362781"/>
            <a:ext cx="11098823" cy="1200329"/>
          </a:xfrm>
          <a:prstGeom prst="rect">
            <a:avLst/>
          </a:prstGeom>
        </p:spPr>
        <p:txBody>
          <a:bodyPr wrap="square">
            <a:spAutoFit/>
          </a:bodyPr>
          <a:lstStyle/>
          <a:p>
            <a:r>
              <a:rPr lang="tr-TR" b="1" dirty="0">
                <a:latin typeface="Inter"/>
              </a:rPr>
              <a:t>Çizimlerinizi ve eskizlerinizi saniyeler içinde görsellere dönüştürün.</a:t>
            </a:r>
          </a:p>
          <a:p>
            <a:r>
              <a:rPr lang="tr-TR" dirty="0">
                <a:latin typeface="Inter"/>
              </a:rPr>
              <a:t>Fikirlerinizi saniyeler içinde gerçekçi görüntülere ve videolara dönüştürün: Yapay zeka aracımızla herhangi bir eskizi fotoğrafa çevirin. Basit kağıt çizimlerinden 3 boyutlu nihai </a:t>
            </a:r>
            <a:r>
              <a:rPr lang="tr-TR" dirty="0" err="1">
                <a:latin typeface="Inter"/>
              </a:rPr>
              <a:t>renderlara</a:t>
            </a:r>
            <a:r>
              <a:rPr lang="tr-TR" dirty="0">
                <a:latin typeface="Inter"/>
              </a:rPr>
              <a:t> kadar kendiniz veya müşteriniz için sınırsız tasarım oluşturun.</a:t>
            </a:r>
            <a:endParaRPr lang="tr-TR" b="0" i="0" dirty="0">
              <a:effectLst/>
              <a:latin typeface="Inter"/>
            </a:endParaRPr>
          </a:p>
        </p:txBody>
      </p:sp>
      <p:sp>
        <p:nvSpPr>
          <p:cNvPr id="4" name="Dikdörtgen 3"/>
          <p:cNvSpPr/>
          <p:nvPr/>
        </p:nvSpPr>
        <p:spPr>
          <a:xfrm>
            <a:off x="469886" y="852827"/>
            <a:ext cx="4502066" cy="369332"/>
          </a:xfrm>
          <a:prstGeom prst="rect">
            <a:avLst/>
          </a:prstGeom>
        </p:spPr>
        <p:txBody>
          <a:bodyPr wrap="none">
            <a:spAutoFit/>
          </a:bodyPr>
          <a:lstStyle/>
          <a:p>
            <a:r>
              <a:rPr lang="tr-TR" dirty="0">
                <a:latin typeface="Inter"/>
              </a:rPr>
              <a:t>Yapay Zeka Çizimden Görüntü Oluşturucu</a:t>
            </a:r>
            <a:endParaRPr lang="tr-TR" b="0" i="0" dirty="0">
              <a:effectLst/>
              <a:latin typeface="Inter"/>
            </a:endParaRPr>
          </a:p>
        </p:txBody>
      </p:sp>
    </p:spTree>
    <p:extLst>
      <p:ext uri="{BB962C8B-B14F-4D97-AF65-F5344CB8AC3E}">
        <p14:creationId xmlns:p14="http://schemas.microsoft.com/office/powerpoint/2010/main" val="27042407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63770" y="170723"/>
            <a:ext cx="11667392" cy="5355312"/>
          </a:xfrm>
          <a:prstGeom prst="rect">
            <a:avLst/>
          </a:prstGeom>
        </p:spPr>
        <p:txBody>
          <a:bodyPr wrap="square">
            <a:spAutoFit/>
          </a:bodyPr>
          <a:lstStyle/>
          <a:p>
            <a:r>
              <a:rPr lang="tr-TR" b="1" dirty="0" err="1">
                <a:solidFill>
                  <a:srgbClr val="1A1A1A"/>
                </a:solidFill>
                <a:latin typeface="Sora"/>
              </a:rPr>
              <a:t>PICTOFiT</a:t>
            </a:r>
            <a:r>
              <a:rPr lang="tr-TR" b="1" dirty="0">
                <a:solidFill>
                  <a:srgbClr val="1A1A1A"/>
                </a:solidFill>
                <a:latin typeface="Sora"/>
              </a:rPr>
              <a:t> (Reaktif Gerçeklik)</a:t>
            </a:r>
          </a:p>
          <a:p>
            <a:r>
              <a:rPr lang="tr-TR" dirty="0">
                <a:solidFill>
                  <a:srgbClr val="1A1A1A"/>
                </a:solidFill>
                <a:latin typeface="Sora"/>
              </a:rPr>
              <a:t>Birçok sanal deneme aracının aksine, </a:t>
            </a:r>
            <a:r>
              <a:rPr lang="tr-TR" u="sng" dirty="0" err="1">
                <a:solidFill>
                  <a:srgbClr val="2E32FF"/>
                </a:solidFill>
                <a:latin typeface="Sora"/>
                <a:hlinkClick r:id="rId2"/>
              </a:rPr>
              <a:t>Reactive</a:t>
            </a:r>
            <a:r>
              <a:rPr lang="tr-TR" u="sng" dirty="0">
                <a:solidFill>
                  <a:srgbClr val="2E32FF"/>
                </a:solidFill>
                <a:latin typeface="Sora"/>
                <a:hlinkClick r:id="rId2"/>
              </a:rPr>
              <a:t> </a:t>
            </a:r>
            <a:r>
              <a:rPr lang="tr-TR" u="sng" dirty="0" err="1">
                <a:solidFill>
                  <a:srgbClr val="2E32FF"/>
                </a:solidFill>
                <a:latin typeface="Sora"/>
                <a:hlinkClick r:id="rId2"/>
              </a:rPr>
              <a:t>Reality</a:t>
            </a:r>
            <a:r>
              <a:rPr lang="tr-TR" u="sng" dirty="0">
                <a:solidFill>
                  <a:srgbClr val="2E32FF"/>
                </a:solidFill>
                <a:latin typeface="Sora"/>
                <a:hlinkClick r:id="rId2"/>
              </a:rPr>
              <a:t> müşterilerin </a:t>
            </a:r>
            <a:r>
              <a:rPr lang="tr-TR" i="1" dirty="0">
                <a:solidFill>
                  <a:srgbClr val="1A1A1A"/>
                </a:solidFill>
                <a:latin typeface="Sora"/>
              </a:rPr>
              <a:t>kendi kişiselleştirilmiş yapay zeka </a:t>
            </a:r>
            <a:r>
              <a:rPr lang="tr-TR" i="1" dirty="0" err="1">
                <a:solidFill>
                  <a:srgbClr val="1A1A1A"/>
                </a:solidFill>
                <a:latin typeface="Sora"/>
              </a:rPr>
              <a:t>avatarlarını</a:t>
            </a:r>
            <a:r>
              <a:rPr lang="tr-TR" dirty="0">
                <a:solidFill>
                  <a:srgbClr val="1A1A1A"/>
                </a:solidFill>
                <a:latin typeface="Sora"/>
              </a:rPr>
              <a:t> oluşturmalarına olanak tanıyor . Bu kişisel gerçekçilik düzeyi, çevrimiçi alışverişi çok daha güven verici hale getiriyor ve beden/uyum konusunda belirsizliği azaltıyor.</a:t>
            </a:r>
            <a:r>
              <a:rPr lang="tr-TR" u="sng" dirty="0">
                <a:solidFill>
                  <a:srgbClr val="2E32FF"/>
                </a:solidFill>
                <a:latin typeface="Sora"/>
                <a:hlinkClick r:id="rId3"/>
              </a:rPr>
              <a:t> </a:t>
            </a:r>
            <a:endParaRPr lang="tr-TR" dirty="0">
              <a:solidFill>
                <a:srgbClr val="1A1A1A"/>
              </a:solidFill>
              <a:latin typeface="Sora"/>
            </a:endParaRPr>
          </a:p>
          <a:p>
            <a:r>
              <a:rPr lang="tr-TR" dirty="0">
                <a:solidFill>
                  <a:srgbClr val="1A1A1A"/>
                </a:solidFill>
                <a:latin typeface="Sora"/>
              </a:rPr>
              <a:t>İşte çalışma şekli. </a:t>
            </a:r>
          </a:p>
          <a:p>
            <a:pPr>
              <a:buFont typeface="+mj-lt"/>
              <a:buAutoNum type="arabicPeriod"/>
            </a:pPr>
            <a:r>
              <a:rPr lang="tr-TR" dirty="0">
                <a:solidFill>
                  <a:srgbClr val="1E1331"/>
                </a:solidFill>
                <a:latin typeface="Sora"/>
              </a:rPr>
              <a:t>Kişiselleştirilmiş </a:t>
            </a:r>
            <a:r>
              <a:rPr lang="tr-TR" dirty="0" err="1">
                <a:solidFill>
                  <a:srgbClr val="1E1331"/>
                </a:solidFill>
                <a:latin typeface="Sora"/>
              </a:rPr>
              <a:t>Avatar</a:t>
            </a:r>
            <a:r>
              <a:rPr lang="tr-TR" dirty="0">
                <a:solidFill>
                  <a:srgbClr val="1E1331"/>
                </a:solidFill>
                <a:latin typeface="Sora"/>
              </a:rPr>
              <a:t> / Dijital İkiz Oluşturma:</a:t>
            </a:r>
            <a:br>
              <a:rPr lang="tr-TR" dirty="0">
                <a:solidFill>
                  <a:srgbClr val="1E1331"/>
                </a:solidFill>
                <a:latin typeface="Sora"/>
              </a:rPr>
            </a:br>
            <a:r>
              <a:rPr lang="tr-TR" dirty="0">
                <a:solidFill>
                  <a:srgbClr val="1E1331"/>
                </a:solidFill>
                <a:latin typeface="Sora"/>
              </a:rPr>
              <a:t>Alışveriş yapanlar, basit bir </a:t>
            </a:r>
            <a:r>
              <a:rPr lang="tr-TR" dirty="0" err="1">
                <a:solidFill>
                  <a:srgbClr val="1E1331"/>
                </a:solidFill>
                <a:latin typeface="Sora"/>
              </a:rPr>
              <a:t>özçekim</a:t>
            </a:r>
            <a:r>
              <a:rPr lang="tr-TR" dirty="0">
                <a:solidFill>
                  <a:srgbClr val="1E1331"/>
                </a:solidFill>
                <a:latin typeface="Sora"/>
              </a:rPr>
              <a:t> ve birkaç vücut ölçüsü vererek gerçekçi bir "dijital ikiz" elde ederler. Bu, kıyafetlerin bir manken üzerinde nasıl duracağını görmek yerine, doğru uyum, oran ve stil ile </a:t>
            </a:r>
            <a:r>
              <a:rPr lang="tr-TR" i="1" dirty="0">
                <a:solidFill>
                  <a:srgbClr val="1E1331"/>
                </a:solidFill>
                <a:latin typeface="Sora"/>
              </a:rPr>
              <a:t>kişisel olarak üzerlerinde</a:t>
            </a:r>
            <a:r>
              <a:rPr lang="tr-TR" dirty="0">
                <a:solidFill>
                  <a:srgbClr val="1E1331"/>
                </a:solidFill>
                <a:latin typeface="Sora"/>
              </a:rPr>
              <a:t/>
            </a:r>
            <a:br>
              <a:rPr lang="tr-TR" dirty="0">
                <a:solidFill>
                  <a:srgbClr val="1E1331"/>
                </a:solidFill>
                <a:latin typeface="Sora"/>
              </a:rPr>
            </a:br>
            <a:r>
              <a:rPr lang="tr-TR" dirty="0" smtClean="0">
                <a:solidFill>
                  <a:srgbClr val="1E1331"/>
                </a:solidFill>
                <a:latin typeface="Sora"/>
              </a:rPr>
              <a:t>nasıl </a:t>
            </a:r>
            <a:r>
              <a:rPr lang="tr-TR" dirty="0">
                <a:solidFill>
                  <a:srgbClr val="1E1331"/>
                </a:solidFill>
                <a:latin typeface="Sora"/>
              </a:rPr>
              <a:t>duracağını görmeleri anlamına gelir. </a:t>
            </a:r>
            <a:r>
              <a:rPr lang="tr-TR" dirty="0" err="1">
                <a:solidFill>
                  <a:srgbClr val="1E1331"/>
                </a:solidFill>
                <a:latin typeface="Sora"/>
              </a:rPr>
              <a:t>PICTOFiT</a:t>
            </a:r>
            <a:r>
              <a:rPr lang="tr-TR" dirty="0">
                <a:solidFill>
                  <a:srgbClr val="1E1331"/>
                </a:solidFill>
                <a:latin typeface="Sora"/>
              </a:rPr>
              <a:t> ile alışveriş yapanlar, kıyafetleri 2D veya 3D olarak dijital ortamda "deneyebilir", katmanlar oluşturabilir, parçaları karıştırıp eşleştirebilir ve giysileri gerçekçi </a:t>
            </a:r>
            <a:r>
              <a:rPr lang="tr-TR" dirty="0" err="1">
                <a:solidFill>
                  <a:srgbClr val="1E1331"/>
                </a:solidFill>
                <a:latin typeface="Sora"/>
              </a:rPr>
              <a:t>dökümlülük</a:t>
            </a:r>
            <a:r>
              <a:rPr lang="tr-TR" dirty="0">
                <a:solidFill>
                  <a:srgbClr val="1E1331"/>
                </a:solidFill>
                <a:latin typeface="Sora"/>
              </a:rPr>
              <a:t> ve formda görüntüleyebilirler. Bu, çevrimiçi olarak mağaza içi deneme kabini deneyimini taklit eder.</a:t>
            </a:r>
            <a:br>
              <a:rPr lang="tr-TR" dirty="0">
                <a:solidFill>
                  <a:srgbClr val="1E1331"/>
                </a:solidFill>
                <a:latin typeface="Sora"/>
              </a:rPr>
            </a:br>
            <a:r>
              <a:rPr lang="tr-TR" dirty="0" smtClean="0">
                <a:solidFill>
                  <a:srgbClr val="1E1331"/>
                </a:solidFill>
                <a:latin typeface="Sora"/>
              </a:rPr>
              <a:t>Ürün </a:t>
            </a:r>
            <a:r>
              <a:rPr lang="tr-TR" dirty="0">
                <a:solidFill>
                  <a:srgbClr val="1E1331"/>
                </a:solidFill>
                <a:latin typeface="Sora"/>
              </a:rPr>
              <a:t>Dijitalleştirme ve Fotogerçekçi Sanal Varlıklar:</a:t>
            </a:r>
            <a:br>
              <a:rPr lang="tr-TR" dirty="0">
                <a:solidFill>
                  <a:srgbClr val="1E1331"/>
                </a:solidFill>
                <a:latin typeface="Sora"/>
              </a:rPr>
            </a:br>
            <a:r>
              <a:rPr lang="tr-TR" dirty="0">
                <a:solidFill>
                  <a:srgbClr val="1E1331"/>
                </a:solidFill>
                <a:latin typeface="Sora"/>
              </a:rPr>
              <a:t>Platform, normal ürün fotoğraflarını akıllı dijital varlıklara (2D/3D) dönüştürerek gerçekçi sanal giyim temsili sağlıyor. Bu da markaların sanal deneme, katalog ve dijital satış kataloglarında varlıkları yeniden kullanmasını kolaylaştırıyor.</a:t>
            </a:r>
            <a:br>
              <a:rPr lang="tr-TR" dirty="0">
                <a:solidFill>
                  <a:srgbClr val="1E1331"/>
                </a:solidFill>
                <a:latin typeface="Sora"/>
              </a:rPr>
            </a:br>
            <a:r>
              <a:rPr lang="tr-TR" dirty="0" smtClean="0">
                <a:solidFill>
                  <a:srgbClr val="1E1331"/>
                </a:solidFill>
                <a:latin typeface="Sora"/>
              </a:rPr>
              <a:t>Çok </a:t>
            </a:r>
            <a:r>
              <a:rPr lang="tr-TR" dirty="0">
                <a:solidFill>
                  <a:srgbClr val="1E1331"/>
                </a:solidFill>
                <a:latin typeface="Sora"/>
              </a:rPr>
              <a:t>Kanallı Entegrasyon (Web, Uygulama, Mağaza İçi, Akıllı Aynalar)</a:t>
            </a:r>
            <a:br>
              <a:rPr lang="tr-TR" dirty="0">
                <a:solidFill>
                  <a:srgbClr val="1E1331"/>
                </a:solidFill>
                <a:latin typeface="Sora"/>
              </a:rPr>
            </a:br>
            <a:r>
              <a:rPr lang="tr-TR" dirty="0" err="1">
                <a:solidFill>
                  <a:srgbClr val="1E1331"/>
                </a:solidFill>
                <a:latin typeface="Sora"/>
              </a:rPr>
              <a:t>PICTOFiT</a:t>
            </a:r>
            <a:r>
              <a:rPr lang="tr-TR" dirty="0">
                <a:solidFill>
                  <a:srgbClr val="1E1331"/>
                </a:solidFill>
                <a:latin typeface="Sora"/>
              </a:rPr>
              <a:t>, </a:t>
            </a:r>
            <a:r>
              <a:rPr lang="tr-TR" dirty="0" err="1">
                <a:solidFill>
                  <a:srgbClr val="1E1331"/>
                </a:solidFill>
                <a:latin typeface="Sora"/>
              </a:rPr>
              <a:t>SDK'sı</a:t>
            </a:r>
            <a:r>
              <a:rPr lang="tr-TR" dirty="0">
                <a:solidFill>
                  <a:srgbClr val="1E1331"/>
                </a:solidFill>
                <a:latin typeface="Sora"/>
              </a:rPr>
              <a:t> aracılığıyla marka web sitelerine, mobil uygulamalara ve hatta akıllı aynalar aracılığıyla mağazalara entegre edilebilir.</a:t>
            </a:r>
            <a:endParaRPr lang="tr-TR" b="0" i="0" dirty="0">
              <a:solidFill>
                <a:srgbClr val="1E1331"/>
              </a:solidFill>
              <a:effectLst/>
              <a:latin typeface="Sora"/>
            </a:endParaRPr>
          </a:p>
        </p:txBody>
      </p:sp>
      <p:sp>
        <p:nvSpPr>
          <p:cNvPr id="3" name="Dikdörtgen 2"/>
          <p:cNvSpPr/>
          <p:nvPr/>
        </p:nvSpPr>
        <p:spPr>
          <a:xfrm>
            <a:off x="263770" y="5526035"/>
            <a:ext cx="11476892" cy="923330"/>
          </a:xfrm>
          <a:prstGeom prst="rect">
            <a:avLst/>
          </a:prstGeom>
        </p:spPr>
        <p:txBody>
          <a:bodyPr wrap="square">
            <a:spAutoFit/>
          </a:bodyPr>
          <a:lstStyle/>
          <a:p>
            <a:r>
              <a:rPr lang="tr-TR" dirty="0">
                <a:solidFill>
                  <a:srgbClr val="1A1A1A"/>
                </a:solidFill>
                <a:latin typeface="Sora"/>
              </a:rPr>
              <a:t>Reaktif Gerçeklik teknolojisini kullanan moda markaları, alışveriş yapanların satın almadan önce beden ve stil konusunda çok daha doğru bir fikir edinmeleri sayesinde genellikle daha yüksek etkileşim, daha uzun oturum süreleri, gelişmiş kullanıcı deneyimi ve daha düşük iade oranları görüyorlar.</a:t>
            </a:r>
            <a:endParaRPr lang="tr-TR" dirty="0"/>
          </a:p>
        </p:txBody>
      </p:sp>
    </p:spTree>
    <p:extLst>
      <p:ext uri="{BB962C8B-B14F-4D97-AF65-F5344CB8AC3E}">
        <p14:creationId xmlns:p14="http://schemas.microsoft.com/office/powerpoint/2010/main" val="5991804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43405" y="219780"/>
            <a:ext cx="3117328" cy="369332"/>
          </a:xfrm>
          <a:prstGeom prst="rect">
            <a:avLst/>
          </a:prstGeom>
        </p:spPr>
        <p:txBody>
          <a:bodyPr wrap="none">
            <a:spAutoFit/>
          </a:bodyPr>
          <a:lstStyle/>
          <a:p>
            <a:r>
              <a:rPr lang="tr-TR" dirty="0">
                <a:solidFill>
                  <a:srgbClr val="1A1A1A"/>
                </a:solidFill>
                <a:latin typeface="Sora"/>
              </a:rPr>
              <a:t>WGSN: Moda Trend Tahmini</a:t>
            </a:r>
            <a:endParaRPr lang="tr-TR" b="0" i="0" dirty="0">
              <a:solidFill>
                <a:srgbClr val="1A1A1A"/>
              </a:solidFill>
              <a:effectLst/>
              <a:latin typeface="Sora"/>
            </a:endParaRPr>
          </a:p>
        </p:txBody>
      </p:sp>
      <p:sp>
        <p:nvSpPr>
          <p:cNvPr id="3" name="Dikdörtgen 2"/>
          <p:cNvSpPr/>
          <p:nvPr/>
        </p:nvSpPr>
        <p:spPr>
          <a:xfrm>
            <a:off x="343405" y="668188"/>
            <a:ext cx="2706125" cy="369332"/>
          </a:xfrm>
          <a:prstGeom prst="rect">
            <a:avLst/>
          </a:prstGeom>
        </p:spPr>
        <p:txBody>
          <a:bodyPr wrap="none">
            <a:spAutoFit/>
          </a:bodyPr>
          <a:lstStyle/>
          <a:p>
            <a:r>
              <a:rPr lang="tr-TR" dirty="0"/>
              <a:t>https://www.wgsn.com/en</a:t>
            </a:r>
          </a:p>
        </p:txBody>
      </p:sp>
      <p:sp>
        <p:nvSpPr>
          <p:cNvPr id="4" name="Dikdörtgen 3"/>
          <p:cNvSpPr/>
          <p:nvPr/>
        </p:nvSpPr>
        <p:spPr>
          <a:xfrm>
            <a:off x="343405" y="1186934"/>
            <a:ext cx="5019634" cy="369332"/>
          </a:xfrm>
          <a:prstGeom prst="rect">
            <a:avLst/>
          </a:prstGeom>
        </p:spPr>
        <p:txBody>
          <a:bodyPr wrap="square">
            <a:spAutoFit/>
          </a:bodyPr>
          <a:lstStyle/>
          <a:p>
            <a:r>
              <a:rPr lang="tr-TR" b="1" dirty="0">
                <a:latin typeface="DM Sans"/>
              </a:rPr>
              <a:t>Dünyanın önde gelen trend tahmincisi</a:t>
            </a:r>
            <a:endParaRPr lang="tr-TR" b="1" i="0" dirty="0">
              <a:effectLst/>
              <a:latin typeface="DM Sans"/>
            </a:endParaRPr>
          </a:p>
        </p:txBody>
      </p:sp>
      <p:sp>
        <p:nvSpPr>
          <p:cNvPr id="5" name="Dikdörtgen 4"/>
          <p:cNvSpPr/>
          <p:nvPr/>
        </p:nvSpPr>
        <p:spPr>
          <a:xfrm>
            <a:off x="343405" y="1635342"/>
            <a:ext cx="11077534" cy="1477328"/>
          </a:xfrm>
          <a:prstGeom prst="rect">
            <a:avLst/>
          </a:prstGeom>
        </p:spPr>
        <p:txBody>
          <a:bodyPr wrap="square">
            <a:spAutoFit/>
          </a:bodyPr>
          <a:lstStyle/>
          <a:p>
            <a:r>
              <a:rPr lang="tr-TR" dirty="0">
                <a:latin typeface="DM Sans"/>
              </a:rPr>
              <a:t>Yapay Zeka + Veri</a:t>
            </a:r>
          </a:p>
          <a:p>
            <a:r>
              <a:rPr lang="tr-TR" dirty="0">
                <a:latin typeface="DM Sans"/>
              </a:rPr>
              <a:t>WGSN, yapay zekayı ve veriyi, tescilli veriler ve uzman zekasıyla birleştirerek riskleri azaltan, stratejileri doğrulayan ve güvenilir kararlar veren veri odaklı </a:t>
            </a:r>
            <a:r>
              <a:rPr lang="tr-TR" dirty="0" err="1">
                <a:latin typeface="DM Sans"/>
              </a:rPr>
              <a:t>tahminleme</a:t>
            </a:r>
            <a:r>
              <a:rPr lang="tr-TR" dirty="0">
                <a:latin typeface="DM Sans"/>
              </a:rPr>
              <a:t> sunar. Ortaya çıkan trendleri eyleme dönüştürülebilir </a:t>
            </a:r>
            <a:r>
              <a:rPr lang="tr-TR" dirty="0" err="1">
                <a:latin typeface="DM Sans"/>
              </a:rPr>
              <a:t>içgörülere</a:t>
            </a:r>
            <a:r>
              <a:rPr lang="tr-TR" dirty="0">
                <a:latin typeface="DM Sans"/>
              </a:rPr>
              <a:t> çevirerek, markaların büyümeyi hızlandırmasına, destek almasına ve tüketicilerin gerçekten arzu ettiği ürünler yaratmasına olanak sağlıyoruz.</a:t>
            </a:r>
            <a:endParaRPr lang="tr-TR" b="0" i="0" dirty="0">
              <a:effectLst/>
              <a:latin typeface="DM Sans"/>
            </a:endParaRPr>
          </a:p>
        </p:txBody>
      </p:sp>
      <p:sp>
        <p:nvSpPr>
          <p:cNvPr id="6" name="Dikdörtgen 5"/>
          <p:cNvSpPr/>
          <p:nvPr/>
        </p:nvSpPr>
        <p:spPr>
          <a:xfrm>
            <a:off x="343405" y="3272888"/>
            <a:ext cx="10954710" cy="646331"/>
          </a:xfrm>
          <a:prstGeom prst="rect">
            <a:avLst/>
          </a:prstGeom>
        </p:spPr>
        <p:txBody>
          <a:bodyPr wrap="square">
            <a:spAutoFit/>
          </a:bodyPr>
          <a:lstStyle/>
          <a:p>
            <a:r>
              <a:rPr lang="tr-TR" b="1" dirty="0">
                <a:latin typeface="DM Sans"/>
              </a:rPr>
              <a:t>Müşterilerinizi anlayın. Piyasa değişimlerinin önünde olun. Doğru ürünleri yaratın ve doğru zamanda sunun.</a:t>
            </a:r>
            <a:endParaRPr lang="tr-TR" dirty="0"/>
          </a:p>
        </p:txBody>
      </p:sp>
    </p:spTree>
    <p:extLst>
      <p:ext uri="{BB962C8B-B14F-4D97-AF65-F5344CB8AC3E}">
        <p14:creationId xmlns:p14="http://schemas.microsoft.com/office/powerpoint/2010/main" val="3796766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68863" y="501134"/>
            <a:ext cx="6031844" cy="369332"/>
          </a:xfrm>
          <a:prstGeom prst="rect">
            <a:avLst/>
          </a:prstGeom>
        </p:spPr>
        <p:txBody>
          <a:bodyPr wrap="none">
            <a:spAutoFit/>
          </a:bodyPr>
          <a:lstStyle/>
          <a:p>
            <a:r>
              <a:rPr lang="tr-TR" b="1" dirty="0"/>
              <a:t>https://www.photoroom.com/industry/clothing-and-apparel</a:t>
            </a:r>
          </a:p>
        </p:txBody>
      </p:sp>
      <p:sp>
        <p:nvSpPr>
          <p:cNvPr id="3" name="Dikdörtgen 2"/>
          <p:cNvSpPr/>
          <p:nvPr/>
        </p:nvSpPr>
        <p:spPr>
          <a:xfrm>
            <a:off x="559776" y="1013183"/>
            <a:ext cx="10931769" cy="1200329"/>
          </a:xfrm>
          <a:prstGeom prst="rect">
            <a:avLst/>
          </a:prstGeom>
        </p:spPr>
        <p:txBody>
          <a:bodyPr wrap="square">
            <a:spAutoFit/>
          </a:bodyPr>
          <a:lstStyle/>
          <a:p>
            <a:r>
              <a:rPr lang="tr-TR" b="1" dirty="0">
                <a:solidFill>
                  <a:srgbClr val="000000"/>
                </a:solidFill>
                <a:latin typeface="TT Photoroom"/>
              </a:rPr>
              <a:t>Moda ve giyim</a:t>
            </a:r>
          </a:p>
          <a:p>
            <a:r>
              <a:rPr lang="tr-TR" b="1" dirty="0">
                <a:solidFill>
                  <a:srgbClr val="000000"/>
                </a:solidFill>
                <a:latin typeface="TT Photoroom"/>
              </a:rPr>
              <a:t>Öne çıkan ürün görselleriyle satışlarınızı artırın.</a:t>
            </a:r>
          </a:p>
          <a:p>
            <a:r>
              <a:rPr lang="tr-TR" dirty="0">
                <a:solidFill>
                  <a:srgbClr val="707177"/>
                </a:solidFill>
                <a:latin typeface="TT Photoroom"/>
              </a:rPr>
              <a:t>Moda sektörü için özel olarak geliştirilmiş yapay zeka ile marka kimliğinize uygun görseller oluşturun, reklam şablonlarını ölçeklendirin ve düzenleme maliyetlerini düşürün.</a:t>
            </a:r>
            <a:endParaRPr lang="tr-TR" b="0" i="0" dirty="0">
              <a:solidFill>
                <a:srgbClr val="707177"/>
              </a:solidFill>
              <a:effectLst/>
              <a:latin typeface="TT Photoroom"/>
            </a:endParaRPr>
          </a:p>
        </p:txBody>
      </p:sp>
      <p:sp>
        <p:nvSpPr>
          <p:cNvPr id="4" name="Dikdörtgen 3"/>
          <p:cNvSpPr/>
          <p:nvPr/>
        </p:nvSpPr>
        <p:spPr>
          <a:xfrm>
            <a:off x="559775" y="2422212"/>
            <a:ext cx="10439401" cy="923330"/>
          </a:xfrm>
          <a:prstGeom prst="rect">
            <a:avLst/>
          </a:prstGeom>
        </p:spPr>
        <p:txBody>
          <a:bodyPr wrap="square">
            <a:spAutoFit/>
          </a:bodyPr>
          <a:lstStyle/>
          <a:p>
            <a:r>
              <a:rPr lang="tr-TR" b="1" dirty="0">
                <a:solidFill>
                  <a:srgbClr val="000000"/>
                </a:solidFill>
                <a:latin typeface="TT Photoroom"/>
              </a:rPr>
              <a:t>Yapay zekâ ile mükemmel görüntüyü otomatikleştirin.</a:t>
            </a:r>
          </a:p>
          <a:p>
            <a:r>
              <a:rPr lang="tr-TR" dirty="0">
                <a:solidFill>
                  <a:srgbClr val="707177"/>
                </a:solidFill>
                <a:latin typeface="TT Photoroom"/>
              </a:rPr>
              <a:t>Ham fotoğrafları anında, her platform için özel çıktılarla, tek bir API üzerinden kusursuz görsellere dönüştürün.</a:t>
            </a:r>
            <a:endParaRPr lang="tr-TR" b="0" i="0" dirty="0">
              <a:solidFill>
                <a:srgbClr val="707177"/>
              </a:solidFill>
              <a:effectLst/>
              <a:latin typeface="TT Photoroom"/>
            </a:endParaRPr>
          </a:p>
        </p:txBody>
      </p:sp>
      <p:pic>
        <p:nvPicPr>
          <p:cNvPr id="5" name="Resim 4"/>
          <p:cNvPicPr>
            <a:picLocks noChangeAspect="1"/>
          </p:cNvPicPr>
          <p:nvPr/>
        </p:nvPicPr>
        <p:blipFill>
          <a:blip r:embed="rId2"/>
          <a:stretch>
            <a:fillRect/>
          </a:stretch>
        </p:blipFill>
        <p:spPr>
          <a:xfrm>
            <a:off x="668863" y="3415880"/>
            <a:ext cx="9357813" cy="3121295"/>
          </a:xfrm>
          <a:prstGeom prst="rect">
            <a:avLst/>
          </a:prstGeom>
        </p:spPr>
      </p:pic>
    </p:spTree>
    <p:extLst>
      <p:ext uri="{BB962C8B-B14F-4D97-AF65-F5344CB8AC3E}">
        <p14:creationId xmlns:p14="http://schemas.microsoft.com/office/powerpoint/2010/main" val="34296020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351691" y="202223"/>
            <a:ext cx="952761" cy="369332"/>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tr-TR" dirty="0" smtClean="0"/>
              <a:t>Devamı:</a:t>
            </a:r>
            <a:endParaRPr lang="tr-TR" dirty="0"/>
          </a:p>
        </p:txBody>
      </p:sp>
      <p:sp>
        <p:nvSpPr>
          <p:cNvPr id="3" name="Dikdörtgen 2"/>
          <p:cNvSpPr/>
          <p:nvPr/>
        </p:nvSpPr>
        <p:spPr>
          <a:xfrm>
            <a:off x="351691" y="720859"/>
            <a:ext cx="10638694" cy="923330"/>
          </a:xfrm>
          <a:prstGeom prst="rect">
            <a:avLst/>
          </a:prstGeom>
        </p:spPr>
        <p:txBody>
          <a:bodyPr wrap="square">
            <a:spAutoFit/>
          </a:bodyPr>
          <a:lstStyle/>
          <a:p>
            <a:r>
              <a:rPr lang="tr-TR" b="1" dirty="0"/>
              <a:t>Özetle:</a:t>
            </a:r>
            <a:r>
              <a:rPr lang="tr-TR" dirty="0"/>
              <a:t> Ürünlerinizi hızlıca </a:t>
            </a:r>
            <a:r>
              <a:rPr lang="tr-TR" dirty="0" err="1"/>
              <a:t>Instagram</a:t>
            </a:r>
            <a:r>
              <a:rPr lang="tr-TR" dirty="0"/>
              <a:t> veya bir web sitesi için profesyonel göstermek istiyorsanız </a:t>
            </a:r>
            <a:r>
              <a:rPr lang="tr-TR" dirty="0" err="1"/>
              <a:t>PhotoRoom'un</a:t>
            </a:r>
            <a:r>
              <a:rPr lang="tr-TR" dirty="0"/>
              <a:t> ücretsiz sürümü (logo sorun değilse) harikadır. Eğer profesyonel bir satış yapacaksanız, logoyu kaldırmak için Pro sürümüne geçmeniz veya alternatif ücretsiz araçlara yönelmeniz gerekir.</a:t>
            </a:r>
          </a:p>
        </p:txBody>
      </p:sp>
      <p:sp>
        <p:nvSpPr>
          <p:cNvPr id="4" name="Dikdörtgen 3"/>
          <p:cNvSpPr/>
          <p:nvPr/>
        </p:nvSpPr>
        <p:spPr>
          <a:xfrm>
            <a:off x="351691" y="1793493"/>
            <a:ext cx="10527323" cy="1754326"/>
          </a:xfrm>
          <a:prstGeom prst="rect">
            <a:avLst/>
          </a:prstGeom>
        </p:spPr>
        <p:txBody>
          <a:bodyPr wrap="square">
            <a:spAutoFit/>
          </a:bodyPr>
          <a:lstStyle/>
          <a:p>
            <a:r>
              <a:rPr lang="tr-TR" b="1" dirty="0"/>
              <a:t>Alternatif: Ücretsiz ve </a:t>
            </a:r>
            <a:r>
              <a:rPr lang="tr-TR" b="1" dirty="0" err="1"/>
              <a:t>Filigransız</a:t>
            </a:r>
            <a:r>
              <a:rPr lang="tr-TR" b="1" dirty="0"/>
              <a:t> Nasıl Yapılır?</a:t>
            </a:r>
          </a:p>
          <a:p>
            <a:r>
              <a:rPr lang="tr-TR" dirty="0"/>
              <a:t>Eğer </a:t>
            </a:r>
            <a:r>
              <a:rPr lang="tr-TR" dirty="0" err="1"/>
              <a:t>PhotoRoom'un</a:t>
            </a:r>
            <a:r>
              <a:rPr lang="tr-TR" dirty="0"/>
              <a:t> logosunu istemiyorsanız ancak benzer bir işlem yapmak istiyorsanız:</a:t>
            </a:r>
          </a:p>
          <a:p>
            <a:pPr>
              <a:buFont typeface="+mj-lt"/>
              <a:buAutoNum type="arabicPeriod"/>
            </a:pPr>
            <a:r>
              <a:rPr lang="tr-TR" b="1" dirty="0" err="1"/>
              <a:t>Adobe</a:t>
            </a:r>
            <a:r>
              <a:rPr lang="tr-TR" b="1" dirty="0"/>
              <a:t> Express (Background </a:t>
            </a:r>
            <a:r>
              <a:rPr lang="tr-TR" b="1" dirty="0" err="1"/>
              <a:t>Remover</a:t>
            </a:r>
            <a:r>
              <a:rPr lang="tr-TR" b="1" dirty="0"/>
              <a:t>):</a:t>
            </a:r>
            <a:r>
              <a:rPr lang="tr-TR" dirty="0"/>
              <a:t> </a:t>
            </a:r>
            <a:r>
              <a:rPr lang="tr-TR" dirty="0" err="1"/>
              <a:t>Adobe'nin</a:t>
            </a:r>
            <a:r>
              <a:rPr lang="tr-TR" dirty="0"/>
              <a:t> web aracı ücretsizdir ve filigran eklemeden arka planı çok temiz siler.</a:t>
            </a:r>
          </a:p>
          <a:p>
            <a:pPr>
              <a:buFont typeface="+mj-lt"/>
              <a:buAutoNum type="arabicPeriod"/>
            </a:pPr>
            <a:r>
              <a:rPr lang="tr-TR" b="1" dirty="0"/>
              <a:t>Microsoft Designer:</a:t>
            </a:r>
            <a:r>
              <a:rPr lang="tr-TR" dirty="0"/>
              <a:t> Tamamen ücretsizdir ve AI arka plan oluşturma konusunda oldukça başarılıdır.</a:t>
            </a:r>
          </a:p>
          <a:p>
            <a:pPr>
              <a:buFont typeface="+mj-lt"/>
              <a:buAutoNum type="arabicPeriod"/>
            </a:pPr>
            <a:r>
              <a:rPr lang="tr-TR" b="1" dirty="0" err="1"/>
              <a:t>Canva</a:t>
            </a:r>
            <a:r>
              <a:rPr lang="tr-TR" b="1" dirty="0"/>
              <a:t>:</a:t>
            </a:r>
            <a:r>
              <a:rPr lang="tr-TR" dirty="0"/>
              <a:t> Eğer eğitim veya </a:t>
            </a:r>
            <a:r>
              <a:rPr lang="tr-TR" dirty="0" err="1"/>
              <a:t>pro</a:t>
            </a:r>
            <a:r>
              <a:rPr lang="tr-TR" dirty="0"/>
              <a:t> hesabınız varsa, arka plan kaldırma özelliği en hızlı çözümlerden biridir.</a:t>
            </a:r>
          </a:p>
        </p:txBody>
      </p:sp>
    </p:spTree>
    <p:extLst>
      <p:ext uri="{BB962C8B-B14F-4D97-AF65-F5344CB8AC3E}">
        <p14:creationId xmlns:p14="http://schemas.microsoft.com/office/powerpoint/2010/main" val="962447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22031" y="-2375297"/>
            <a:ext cx="11491546" cy="8125301"/>
          </a:xfrm>
          <a:prstGeom prst="rect">
            <a:avLst/>
          </a:prstGeom>
        </p:spPr>
        <p:txBody>
          <a:bodyPr wrap="square">
            <a:spAutoFit/>
          </a:bodyPr>
          <a:lstStyle/>
          <a:p>
            <a:r>
              <a:rPr lang="tr-TR" u="sng" dirty="0" err="1">
                <a:solidFill>
                  <a:srgbClr val="2E32FF"/>
                </a:solidFill>
                <a:latin typeface="Sora"/>
                <a:hlinkClick r:id="rId2"/>
              </a:rPr>
              <a:t>PhotoRoom</a:t>
            </a:r>
            <a:r>
              <a:rPr lang="tr-TR" u="sng" dirty="0">
                <a:solidFill>
                  <a:srgbClr val="2E32FF"/>
                </a:solidFill>
                <a:latin typeface="Sora"/>
                <a:hlinkClick r:id="rId2"/>
              </a:rPr>
              <a:t>,</a:t>
            </a:r>
            <a:r>
              <a:rPr lang="tr-TR" dirty="0">
                <a:solidFill>
                  <a:srgbClr val="1A1A1A"/>
                </a:solidFill>
                <a:latin typeface="Sora"/>
              </a:rPr>
              <a:t> moda ve giyim markaları için tasarlanmış, yapay zeka destekli bir araçtır ve ekiplerin dakikalar içinde stüdyo kalitesinde ürün görselleri oluşturmasına yardımcı olur. Geleneksel fotoğraf çekimlerine olan ihtiyacı ortadan kaldırır, düzenleme süresini kısaltır ve e-ticaret ve pazarlama kanallarında ürün </a:t>
            </a:r>
            <a:r>
              <a:rPr lang="tr-TR" dirty="0" err="1">
                <a:solidFill>
                  <a:srgbClr val="1A1A1A"/>
                </a:solidFill>
                <a:latin typeface="Sora"/>
              </a:rPr>
              <a:t>lansman</a:t>
            </a:r>
            <a:r>
              <a:rPr lang="tr-TR" dirty="0">
                <a:solidFill>
                  <a:srgbClr val="1A1A1A"/>
                </a:solidFill>
                <a:latin typeface="Sora"/>
              </a:rPr>
              <a:t> döngülerini hızlandırır.</a:t>
            </a:r>
          </a:p>
          <a:p>
            <a:r>
              <a:rPr lang="tr-TR" dirty="0">
                <a:solidFill>
                  <a:srgbClr val="1A1A1A"/>
                </a:solidFill>
                <a:latin typeface="Sora"/>
              </a:rPr>
              <a:t>İşte temel yeteneklerinin içerik üretimini nasıl dönüştürdüğü:</a:t>
            </a:r>
          </a:p>
          <a:p>
            <a:pPr>
              <a:buFont typeface="+mj-lt"/>
              <a:buAutoNum type="arabicPeriod"/>
            </a:pPr>
            <a:r>
              <a:rPr lang="tr-TR" dirty="0">
                <a:solidFill>
                  <a:srgbClr val="1E1331"/>
                </a:solidFill>
                <a:latin typeface="Sora"/>
              </a:rPr>
              <a:t>Yapay Zeka Destekli Arka Plan Kaldırma,</a:t>
            </a:r>
            <a:br>
              <a:rPr lang="tr-TR" dirty="0">
                <a:solidFill>
                  <a:srgbClr val="1E1331"/>
                </a:solidFill>
                <a:latin typeface="Sora"/>
              </a:rPr>
            </a:br>
            <a:r>
              <a:rPr lang="tr-TR" dirty="0">
                <a:solidFill>
                  <a:srgbClr val="1E1331"/>
                </a:solidFill>
                <a:latin typeface="Sora"/>
              </a:rPr>
              <a:t>arka planları anında kaldırıp yeniden ekleyerek e-ticaret listeleri, kataloglar ve reklamlar için mükemmel, temiz ve tutarlı ürün fotoğrafları oluşturur.</a:t>
            </a:r>
            <a:br>
              <a:rPr lang="tr-TR" dirty="0">
                <a:solidFill>
                  <a:srgbClr val="1E1331"/>
                </a:solidFill>
                <a:latin typeface="Sora"/>
              </a:rPr>
            </a:br>
            <a:r>
              <a:rPr lang="tr-TR" dirty="0">
                <a:solidFill>
                  <a:srgbClr val="1E1331"/>
                </a:solidFill>
                <a:latin typeface="Sora"/>
              </a:rPr>
              <a:t/>
            </a:r>
            <a:br>
              <a:rPr lang="tr-TR" dirty="0">
                <a:solidFill>
                  <a:srgbClr val="1E1331"/>
                </a:solidFill>
                <a:latin typeface="Sora"/>
              </a:rPr>
            </a:br>
            <a:endParaRPr lang="tr-TR" dirty="0">
              <a:solidFill>
                <a:srgbClr val="1E1331"/>
              </a:solidFill>
              <a:latin typeface="Sora"/>
            </a:endParaRPr>
          </a:p>
          <a:p>
            <a:pPr>
              <a:buFont typeface="+mj-lt"/>
              <a:buAutoNum type="arabicPeriod"/>
            </a:pPr>
            <a:r>
              <a:rPr lang="tr-TR" b="1" dirty="0">
                <a:solidFill>
                  <a:srgbClr val="1E1331"/>
                </a:solidFill>
                <a:latin typeface="Sora"/>
              </a:rPr>
              <a:t>Sanal Modeller ve Model Üzerindeki Görüntüler:</a:t>
            </a:r>
            <a:r>
              <a:rPr lang="tr-TR" dirty="0">
                <a:solidFill>
                  <a:srgbClr val="1E1331"/>
                </a:solidFill>
                <a:latin typeface="Sora"/>
              </a:rPr>
              <a:t/>
            </a:r>
            <a:br>
              <a:rPr lang="tr-TR" dirty="0">
                <a:solidFill>
                  <a:srgbClr val="1E1331"/>
                </a:solidFill>
                <a:latin typeface="Sora"/>
              </a:rPr>
            </a:br>
            <a:r>
              <a:rPr lang="tr-TR" dirty="0">
                <a:solidFill>
                  <a:srgbClr val="1E1331"/>
                </a:solidFill>
                <a:latin typeface="Sora"/>
              </a:rPr>
              <a:t>İstediğiniz giysiyi yükleyin ve model kiralamaya veya çekim planlamaya gerek kalmadan gerçekçi model üzerinde çekilmiş fotoğraflar oluşturun. Bu, markaların farklı vücut tiplerinde uyumu, stili ve sunumu görselleştirmesine yardımcı olur.</a:t>
            </a:r>
            <a:br>
              <a:rPr lang="tr-TR" dirty="0">
                <a:solidFill>
                  <a:srgbClr val="1E1331"/>
                </a:solidFill>
                <a:latin typeface="Sora"/>
              </a:rPr>
            </a:br>
            <a:endParaRPr lang="tr-TR" dirty="0" smtClean="0">
              <a:solidFill>
                <a:srgbClr val="1E1331"/>
              </a:solidFill>
              <a:latin typeface="Sora"/>
            </a:endParaRPr>
          </a:p>
          <a:p>
            <a:pPr>
              <a:buFont typeface="+mj-lt"/>
              <a:buAutoNum type="arabicPeriod"/>
            </a:pPr>
            <a:r>
              <a:rPr lang="tr-TR" b="1" dirty="0" smtClean="0">
                <a:solidFill>
                  <a:srgbClr val="1E1331"/>
                </a:solidFill>
                <a:latin typeface="Sora"/>
              </a:rPr>
              <a:t>Yapay Zeka Destekli Ürün Hazırlama:</a:t>
            </a:r>
            <a:r>
              <a:rPr lang="tr-TR" dirty="0" smtClean="0">
                <a:solidFill>
                  <a:srgbClr val="1E1331"/>
                </a:solidFill>
                <a:latin typeface="Sora"/>
              </a:rPr>
              <a:t/>
            </a:r>
            <a:br>
              <a:rPr lang="tr-TR" dirty="0" smtClean="0">
                <a:solidFill>
                  <a:srgbClr val="1E1331"/>
                </a:solidFill>
                <a:latin typeface="Sora"/>
              </a:rPr>
            </a:br>
            <a:r>
              <a:rPr lang="tr-TR" dirty="0" smtClean="0">
                <a:solidFill>
                  <a:srgbClr val="1E1331"/>
                </a:solidFill>
                <a:latin typeface="Sora"/>
              </a:rPr>
              <a:t>Yapay zeka tarafından oluşturulan ortamlar kullanarak sıradan görselleri üst düzey yaşam tarzı fotoğraflarına dönüştürün. Sosyal medya, kampanyalar ve pazar yerlerinde etkileşimi artırmak için idealdir.</a:t>
            </a:r>
            <a:br>
              <a:rPr lang="tr-TR" dirty="0" smtClean="0">
                <a:solidFill>
                  <a:srgbClr val="1E1331"/>
                </a:solidFill>
                <a:latin typeface="Sora"/>
              </a:rPr>
            </a:br>
            <a:endParaRPr lang="tr-TR" dirty="0" smtClean="0">
              <a:solidFill>
                <a:srgbClr val="1E1331"/>
              </a:solidFill>
              <a:latin typeface="Sora"/>
            </a:endParaRPr>
          </a:p>
          <a:p>
            <a:pPr>
              <a:buFont typeface="+mj-lt"/>
              <a:buAutoNum type="arabicPeriod"/>
            </a:pPr>
            <a:r>
              <a:rPr lang="tr-TR" b="1" dirty="0">
                <a:solidFill>
                  <a:srgbClr val="1E1331"/>
                </a:solidFill>
                <a:latin typeface="Sora"/>
              </a:rPr>
              <a:t>Toplu Düzenleme ve Otomasyon</a:t>
            </a:r>
            <a:r>
              <a:rPr lang="tr-TR" dirty="0" smtClean="0">
                <a:solidFill>
                  <a:srgbClr val="1E1331"/>
                </a:solidFill>
                <a:latin typeface="Sora"/>
              </a:rPr>
              <a:t/>
            </a:r>
            <a:br>
              <a:rPr lang="tr-TR" dirty="0" smtClean="0">
                <a:solidFill>
                  <a:srgbClr val="1E1331"/>
                </a:solidFill>
                <a:latin typeface="Sora"/>
              </a:rPr>
            </a:br>
            <a:r>
              <a:rPr lang="tr-TR" dirty="0" smtClean="0">
                <a:solidFill>
                  <a:srgbClr val="1E1331"/>
                </a:solidFill>
                <a:latin typeface="Sora"/>
              </a:rPr>
              <a:t>Süreci: Şablonlar, marka ön ayarları ve API iş akışları kullanarak yüzlerce </a:t>
            </a:r>
            <a:r>
              <a:rPr lang="tr-TR" dirty="0" err="1" smtClean="0">
                <a:solidFill>
                  <a:srgbClr val="1E1331"/>
                </a:solidFill>
                <a:latin typeface="Sora"/>
              </a:rPr>
              <a:t>SKU'yu</a:t>
            </a:r>
            <a:r>
              <a:rPr lang="tr-TR" dirty="0" smtClean="0">
                <a:solidFill>
                  <a:srgbClr val="1E1331"/>
                </a:solidFill>
                <a:latin typeface="Sora"/>
              </a:rPr>
              <a:t> aynı anda işleyin, saatlerce süren manuel düzenlemeden tasarruf edin ve tutarlı bir estetik görünüm sağlayın.</a:t>
            </a:r>
            <a:br>
              <a:rPr lang="tr-TR" dirty="0" smtClean="0">
                <a:solidFill>
                  <a:srgbClr val="1E1331"/>
                </a:solidFill>
                <a:latin typeface="Sora"/>
              </a:rPr>
            </a:br>
            <a:endParaRPr lang="tr-TR" b="1" dirty="0">
              <a:solidFill>
                <a:srgbClr val="1E1331"/>
              </a:solidFill>
              <a:latin typeface="Sora"/>
            </a:endParaRPr>
          </a:p>
          <a:p>
            <a:pPr>
              <a:buFont typeface="+mj-lt"/>
              <a:buAutoNum type="arabicPeriod"/>
            </a:pPr>
            <a:r>
              <a:rPr lang="tr-TR" b="1" dirty="0">
                <a:solidFill>
                  <a:srgbClr val="1E1331"/>
                </a:solidFill>
                <a:latin typeface="Sora"/>
              </a:rPr>
              <a:t>Markalama ve Özel Şablonlar:</a:t>
            </a:r>
            <a:r>
              <a:rPr lang="tr-TR" dirty="0">
                <a:solidFill>
                  <a:srgbClr val="1E1331"/>
                </a:solidFill>
                <a:latin typeface="Sora"/>
              </a:rPr>
              <a:t/>
            </a:r>
            <a:br>
              <a:rPr lang="tr-TR" dirty="0">
                <a:solidFill>
                  <a:srgbClr val="1E1331"/>
                </a:solidFill>
                <a:latin typeface="Sora"/>
              </a:rPr>
            </a:br>
            <a:r>
              <a:rPr lang="tr-TR" dirty="0">
                <a:solidFill>
                  <a:srgbClr val="1E1331"/>
                </a:solidFill>
                <a:latin typeface="Sora"/>
              </a:rPr>
              <a:t>Her kanalda birleşik bir görsel kimlik sağlamak için logolar, metinler, gölgeler ve renk paletleri içeren markalı görsel düzenler oluşturun.</a:t>
            </a:r>
            <a:br>
              <a:rPr lang="tr-TR" dirty="0">
                <a:solidFill>
                  <a:srgbClr val="1E1331"/>
                </a:solidFill>
                <a:latin typeface="Sora"/>
              </a:rPr>
            </a:br>
            <a:r>
              <a:rPr lang="tr-TR" dirty="0" smtClean="0">
                <a:solidFill>
                  <a:srgbClr val="1A1A1A"/>
                </a:solidFill>
                <a:latin typeface="Sora"/>
              </a:rPr>
              <a:t>Bu </a:t>
            </a:r>
            <a:r>
              <a:rPr lang="tr-TR" dirty="0">
                <a:solidFill>
                  <a:srgbClr val="1A1A1A"/>
                </a:solidFill>
                <a:latin typeface="Sora"/>
              </a:rPr>
              <a:t>özelliklerin bir araya gelmesiyle </a:t>
            </a:r>
            <a:r>
              <a:rPr lang="tr-TR" dirty="0" err="1">
                <a:solidFill>
                  <a:srgbClr val="1A1A1A"/>
                </a:solidFill>
                <a:latin typeface="Sora"/>
              </a:rPr>
              <a:t>PhotoRoom</a:t>
            </a:r>
            <a:r>
              <a:rPr lang="tr-TR" dirty="0">
                <a:solidFill>
                  <a:srgbClr val="1A1A1A"/>
                </a:solidFill>
                <a:latin typeface="Sora"/>
              </a:rPr>
              <a:t>, moda markalarının içerik üretimini ölçeklendirmesine, maliyetleri düşürmesine ve yüksek etkili görsellerle pazara daha hızlı girmesine yardımcı olan güçlü bir yaratıcı araç haline geliyor.</a:t>
            </a:r>
            <a:endParaRPr lang="tr-TR" b="0" i="0" dirty="0">
              <a:solidFill>
                <a:srgbClr val="1A1A1A"/>
              </a:solidFill>
              <a:effectLst/>
              <a:latin typeface="Sora"/>
            </a:endParaRPr>
          </a:p>
        </p:txBody>
      </p:sp>
    </p:spTree>
    <p:extLst>
      <p:ext uri="{BB962C8B-B14F-4D97-AF65-F5344CB8AC3E}">
        <p14:creationId xmlns:p14="http://schemas.microsoft.com/office/powerpoint/2010/main" val="38010591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799335" y="1385767"/>
            <a:ext cx="3836820" cy="523220"/>
          </a:xfrm>
          <a:prstGeom prst="rect">
            <a:avLst/>
          </a:prstGeom>
        </p:spPr>
        <p:txBody>
          <a:bodyPr wrap="none">
            <a:spAutoFit/>
          </a:bodyPr>
          <a:lstStyle/>
          <a:p>
            <a:r>
              <a:rPr lang="tr-TR" sz="2800" b="1" dirty="0"/>
              <a:t>https://www.style3d.ai/</a:t>
            </a:r>
          </a:p>
        </p:txBody>
      </p:sp>
      <p:sp>
        <p:nvSpPr>
          <p:cNvPr id="3" name="Dikdörtgen 2"/>
          <p:cNvSpPr/>
          <p:nvPr/>
        </p:nvSpPr>
        <p:spPr>
          <a:xfrm>
            <a:off x="799335" y="485727"/>
            <a:ext cx="8599641" cy="523220"/>
          </a:xfrm>
          <a:prstGeom prst="rect">
            <a:avLst/>
          </a:prstGeom>
        </p:spPr>
        <p:txBody>
          <a:bodyPr wrap="square">
            <a:spAutoFit/>
          </a:bodyPr>
          <a:lstStyle/>
          <a:p>
            <a:r>
              <a:rPr lang="tr-TR" sz="2800" b="1" dirty="0"/>
              <a:t>Yapay Zeka Destekli Moda </a:t>
            </a:r>
            <a:r>
              <a:rPr lang="tr-TR" sz="2800" b="1" dirty="0" smtClean="0"/>
              <a:t>Tasarımı ve </a:t>
            </a:r>
            <a:r>
              <a:rPr lang="tr-TR" sz="2800" b="1" dirty="0"/>
              <a:t>Pazarlaması</a:t>
            </a:r>
          </a:p>
        </p:txBody>
      </p:sp>
      <p:sp>
        <p:nvSpPr>
          <p:cNvPr id="4" name="Dikdörtgen 3"/>
          <p:cNvSpPr/>
          <p:nvPr/>
        </p:nvSpPr>
        <p:spPr>
          <a:xfrm>
            <a:off x="799334" y="2285808"/>
            <a:ext cx="9030465" cy="2308324"/>
          </a:xfrm>
          <a:prstGeom prst="rect">
            <a:avLst/>
          </a:prstGeom>
        </p:spPr>
        <p:txBody>
          <a:bodyPr wrap="square">
            <a:spAutoFit/>
          </a:bodyPr>
          <a:lstStyle/>
          <a:p>
            <a:r>
              <a:rPr lang="tr-TR" b="1" dirty="0"/>
              <a:t>Style3D AI — 3D Moda ve Sanal Defile Platformu</a:t>
            </a:r>
          </a:p>
          <a:p>
            <a:pPr>
              <a:buFont typeface="Arial" panose="020B0604020202020204" pitchFamily="34" charset="0"/>
              <a:buChar char="•"/>
            </a:pPr>
            <a:r>
              <a:rPr lang="tr-TR" b="1" dirty="0"/>
              <a:t>Ne Yapabilir?</a:t>
            </a:r>
            <a:r>
              <a:rPr lang="tr-TR" dirty="0"/>
              <a:t/>
            </a:r>
            <a:br>
              <a:rPr lang="tr-TR" dirty="0"/>
            </a:br>
            <a:r>
              <a:rPr lang="tr-TR" dirty="0"/>
              <a:t>✦ 3D moda modeli üretimi</a:t>
            </a:r>
            <a:br>
              <a:rPr lang="tr-TR" dirty="0"/>
            </a:br>
            <a:r>
              <a:rPr lang="tr-TR" dirty="0"/>
              <a:t>✦ Kumaş simülasyonu</a:t>
            </a:r>
            <a:br>
              <a:rPr lang="tr-TR" dirty="0"/>
            </a:br>
            <a:r>
              <a:rPr lang="tr-TR" dirty="0"/>
              <a:t>✦ Sanal </a:t>
            </a:r>
            <a:r>
              <a:rPr lang="tr-TR" dirty="0" err="1"/>
              <a:t>runway</a:t>
            </a:r>
            <a:r>
              <a:rPr lang="tr-TR" dirty="0"/>
              <a:t> (podyum) ve animasyon entegrasyonu</a:t>
            </a:r>
          </a:p>
          <a:p>
            <a:pPr>
              <a:buFont typeface="Arial" panose="020B0604020202020204" pitchFamily="34" charset="0"/>
              <a:buChar char="•"/>
            </a:pPr>
            <a:r>
              <a:rPr lang="tr-TR" b="1" dirty="0"/>
              <a:t>AI Rolü:</a:t>
            </a:r>
            <a:r>
              <a:rPr lang="tr-TR" dirty="0"/>
              <a:t> AI, kumaş davranışı ve model yürüyüş animasyonlarında gerçekçi sonuçlar verir. </a:t>
            </a:r>
            <a:r>
              <a:rPr lang="tr-TR" dirty="0">
                <a:hlinkClick r:id="rId2"/>
              </a:rPr>
              <a:t>style3d.ai+1</a:t>
            </a:r>
            <a:endParaRPr lang="tr-TR" dirty="0"/>
          </a:p>
          <a:p>
            <a:pPr>
              <a:buFont typeface="Arial" panose="020B0604020202020204" pitchFamily="34" charset="0"/>
              <a:buChar char="•"/>
            </a:pPr>
            <a:r>
              <a:rPr lang="tr-TR" b="1" dirty="0"/>
              <a:t>Kullanım Alanları:</a:t>
            </a:r>
            <a:r>
              <a:rPr lang="tr-TR" dirty="0"/>
              <a:t> Virtual </a:t>
            </a:r>
            <a:r>
              <a:rPr lang="tr-TR" dirty="0" err="1"/>
              <a:t>fashion</a:t>
            </a:r>
            <a:r>
              <a:rPr lang="tr-TR" dirty="0"/>
              <a:t> </a:t>
            </a:r>
            <a:r>
              <a:rPr lang="tr-TR" dirty="0" err="1"/>
              <a:t>show</a:t>
            </a:r>
            <a:r>
              <a:rPr lang="tr-TR" dirty="0"/>
              <a:t> hazırlama, koleksiyon sunumları</a:t>
            </a:r>
          </a:p>
        </p:txBody>
      </p:sp>
    </p:spTree>
    <p:extLst>
      <p:ext uri="{BB962C8B-B14F-4D97-AF65-F5344CB8AC3E}">
        <p14:creationId xmlns:p14="http://schemas.microsoft.com/office/powerpoint/2010/main" val="9438401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21323" y="1099011"/>
            <a:ext cx="4636526" cy="369332"/>
          </a:xfrm>
          <a:prstGeom prst="rect">
            <a:avLst/>
          </a:prstGeom>
        </p:spPr>
        <p:txBody>
          <a:bodyPr wrap="none">
            <a:spAutoFit/>
          </a:bodyPr>
          <a:lstStyle/>
          <a:p>
            <a:r>
              <a:rPr lang="tr-TR" dirty="0">
                <a:hlinkClick r:id="rId2"/>
              </a:rPr>
              <a:t>https://avaturn.me/?</a:t>
            </a:r>
            <a:r>
              <a:rPr lang="tr-TR" dirty="0" smtClean="0">
                <a:hlinkClick r:id="rId2"/>
              </a:rPr>
              <a:t>utm_source=chatgpt.com</a:t>
            </a:r>
            <a:r>
              <a:rPr lang="tr-TR" dirty="0" smtClean="0"/>
              <a:t> </a:t>
            </a:r>
            <a:endParaRPr lang="tr-TR" dirty="0"/>
          </a:p>
        </p:txBody>
      </p:sp>
      <p:sp>
        <p:nvSpPr>
          <p:cNvPr id="3" name="Dikdörtgen 2"/>
          <p:cNvSpPr/>
          <p:nvPr/>
        </p:nvSpPr>
        <p:spPr>
          <a:xfrm>
            <a:off x="621323" y="2404545"/>
            <a:ext cx="11081238" cy="1200329"/>
          </a:xfrm>
          <a:prstGeom prst="rect">
            <a:avLst/>
          </a:prstGeom>
        </p:spPr>
        <p:txBody>
          <a:bodyPr wrap="square">
            <a:spAutoFit/>
          </a:bodyPr>
          <a:lstStyle/>
          <a:p>
            <a:r>
              <a:rPr lang="tr-TR" b="1" cap="all" dirty="0">
                <a:latin typeface="Montserrat" panose="00000500000000000000" pitchFamily="2" charset="-94"/>
              </a:rPr>
              <a:t>Gerçekçi </a:t>
            </a:r>
            <a:r>
              <a:rPr lang="tr-TR" b="1" cap="all" dirty="0" err="1">
                <a:latin typeface="Montserrat" panose="00000500000000000000" pitchFamily="2" charset="-94"/>
              </a:rPr>
              <a:t>Avatarlar</a:t>
            </a:r>
            <a:r>
              <a:rPr lang="tr-TR" b="1" cap="all" dirty="0">
                <a:latin typeface="Montserrat" panose="00000500000000000000" pitchFamily="2" charset="-94"/>
              </a:rPr>
              <a:t> ile Her Deneyimi Kişiselleştirin</a:t>
            </a:r>
          </a:p>
          <a:p>
            <a:r>
              <a:rPr lang="tr-TR" dirty="0" err="1">
                <a:latin typeface="Montserrat" panose="00000500000000000000" pitchFamily="2" charset="-94"/>
              </a:rPr>
              <a:t>Özçekim</a:t>
            </a:r>
            <a:r>
              <a:rPr lang="tr-TR" dirty="0">
                <a:latin typeface="Montserrat" panose="00000500000000000000" pitchFamily="2" charset="-94"/>
              </a:rPr>
              <a:t> tabanlı gerçekçi </a:t>
            </a:r>
            <a:r>
              <a:rPr lang="tr-TR" dirty="0" err="1">
                <a:latin typeface="Montserrat" panose="00000500000000000000" pitchFamily="2" charset="-94"/>
              </a:rPr>
              <a:t>avatarlarımızla</a:t>
            </a:r>
            <a:r>
              <a:rPr lang="tr-TR" dirty="0">
                <a:latin typeface="Montserrat" panose="00000500000000000000" pitchFamily="2" charset="-94"/>
              </a:rPr>
              <a:t> bir sonraki kampanyanıza, oyununuza veya </a:t>
            </a:r>
            <a:r>
              <a:rPr lang="tr-TR" dirty="0" err="1">
                <a:latin typeface="Montserrat" panose="00000500000000000000" pitchFamily="2" charset="-94"/>
              </a:rPr>
              <a:t>metaverse'inize</a:t>
            </a:r>
            <a:r>
              <a:rPr lang="tr-TR" dirty="0">
                <a:latin typeface="Montserrat" panose="00000500000000000000" pitchFamily="2" charset="-94"/>
              </a:rPr>
              <a:t> güç katın. </a:t>
            </a:r>
            <a:r>
              <a:rPr lang="tr-TR" dirty="0" err="1">
                <a:latin typeface="Montserrat" panose="00000500000000000000" pitchFamily="2" charset="-94"/>
              </a:rPr>
              <a:t>Avatarları</a:t>
            </a:r>
            <a:r>
              <a:rPr lang="tr-TR" dirty="0">
                <a:latin typeface="Montserrat" panose="00000500000000000000" pitchFamily="2" charset="-94"/>
              </a:rPr>
              <a:t> dosya olarak dışa aktarın veya ürününüze eklenti olarak entegre edin.</a:t>
            </a:r>
            <a:endParaRPr lang="tr-TR" b="0" i="0" dirty="0">
              <a:effectLst/>
              <a:latin typeface="Montserrat" panose="00000500000000000000" pitchFamily="2" charset="-94"/>
            </a:endParaRPr>
          </a:p>
        </p:txBody>
      </p:sp>
      <p:sp>
        <p:nvSpPr>
          <p:cNvPr id="4" name="Dikdörtgen 3"/>
          <p:cNvSpPr/>
          <p:nvPr/>
        </p:nvSpPr>
        <p:spPr>
          <a:xfrm>
            <a:off x="621323" y="1751778"/>
            <a:ext cx="4446154" cy="369332"/>
          </a:xfrm>
          <a:prstGeom prst="rect">
            <a:avLst/>
          </a:prstGeom>
        </p:spPr>
        <p:txBody>
          <a:bodyPr wrap="none">
            <a:spAutoFit/>
          </a:bodyPr>
          <a:lstStyle/>
          <a:p>
            <a:r>
              <a:rPr lang="tr-TR" dirty="0"/>
              <a:t>2D fotoğraftan kişiye özel 3D </a:t>
            </a:r>
            <a:r>
              <a:rPr lang="tr-TR" dirty="0" err="1"/>
              <a:t>avatar</a:t>
            </a:r>
            <a:r>
              <a:rPr lang="tr-TR" dirty="0"/>
              <a:t> oluşturur.</a:t>
            </a:r>
          </a:p>
        </p:txBody>
      </p:sp>
    </p:spTree>
    <p:extLst>
      <p:ext uri="{BB962C8B-B14F-4D97-AF65-F5344CB8AC3E}">
        <p14:creationId xmlns:p14="http://schemas.microsoft.com/office/powerpoint/2010/main" val="13979826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807578" y="1142972"/>
            <a:ext cx="4861844" cy="369332"/>
          </a:xfrm>
          <a:prstGeom prst="rect">
            <a:avLst/>
          </a:prstGeom>
        </p:spPr>
        <p:txBody>
          <a:bodyPr wrap="none">
            <a:spAutoFit/>
          </a:bodyPr>
          <a:lstStyle/>
          <a:p>
            <a:r>
              <a:rPr lang="tr-TR" dirty="0"/>
              <a:t>https://avatarsdk.com/?utm_source=chatgpt.com</a:t>
            </a:r>
          </a:p>
        </p:txBody>
      </p:sp>
      <p:sp>
        <p:nvSpPr>
          <p:cNvPr id="3" name="Dikdörtgen 2"/>
          <p:cNvSpPr/>
          <p:nvPr/>
        </p:nvSpPr>
        <p:spPr>
          <a:xfrm>
            <a:off x="807577" y="1662834"/>
            <a:ext cx="7562699" cy="369332"/>
          </a:xfrm>
          <a:prstGeom prst="rect">
            <a:avLst/>
          </a:prstGeom>
        </p:spPr>
        <p:txBody>
          <a:bodyPr wrap="square">
            <a:spAutoFit/>
          </a:bodyPr>
          <a:lstStyle/>
          <a:p>
            <a:r>
              <a:rPr lang="tr-TR" dirty="0"/>
              <a:t>3D </a:t>
            </a:r>
            <a:r>
              <a:rPr lang="tr-TR" dirty="0" err="1"/>
              <a:t>avatar</a:t>
            </a:r>
            <a:r>
              <a:rPr lang="tr-TR" dirty="0"/>
              <a:t> üretimini </a:t>
            </a:r>
            <a:r>
              <a:rPr lang="tr-TR" dirty="0" err="1"/>
              <a:t>Unity</a:t>
            </a:r>
            <a:r>
              <a:rPr lang="tr-TR" dirty="0"/>
              <a:t>/</a:t>
            </a:r>
            <a:r>
              <a:rPr lang="tr-TR" dirty="0" err="1"/>
              <a:t>Unreal</a:t>
            </a:r>
            <a:r>
              <a:rPr lang="tr-TR" dirty="0"/>
              <a:t> Engine gibi ortamlara entegre eder. </a:t>
            </a:r>
          </a:p>
        </p:txBody>
      </p:sp>
      <p:pic>
        <p:nvPicPr>
          <p:cNvPr id="4" name="Resim 3"/>
          <p:cNvPicPr>
            <a:picLocks noChangeAspect="1"/>
          </p:cNvPicPr>
          <p:nvPr/>
        </p:nvPicPr>
        <p:blipFill>
          <a:blip r:embed="rId2"/>
          <a:stretch>
            <a:fillRect/>
          </a:stretch>
        </p:blipFill>
        <p:spPr>
          <a:xfrm>
            <a:off x="807577" y="2182697"/>
            <a:ext cx="5877745" cy="3696216"/>
          </a:xfrm>
          <a:prstGeom prst="rect">
            <a:avLst/>
          </a:prstGeom>
        </p:spPr>
      </p:pic>
    </p:spTree>
    <p:extLst>
      <p:ext uri="{BB962C8B-B14F-4D97-AF65-F5344CB8AC3E}">
        <p14:creationId xmlns:p14="http://schemas.microsoft.com/office/powerpoint/2010/main" val="28805288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805960" y="784666"/>
            <a:ext cx="9982201" cy="369332"/>
          </a:xfrm>
          <a:prstGeom prst="rect">
            <a:avLst/>
          </a:prstGeom>
        </p:spPr>
        <p:txBody>
          <a:bodyPr wrap="square">
            <a:spAutoFit/>
          </a:bodyPr>
          <a:lstStyle/>
          <a:p>
            <a:r>
              <a:rPr lang="tr-TR" b="1" dirty="0">
                <a:latin typeface="Montserrat" panose="00000500000000000000" pitchFamily="2" charset="-94"/>
              </a:rPr>
              <a:t>https://</a:t>
            </a:r>
            <a:r>
              <a:rPr lang="tr-TR" b="1" dirty="0" smtClean="0">
                <a:latin typeface="Montserrat" panose="00000500000000000000" pitchFamily="2" charset="-94"/>
              </a:rPr>
              <a:t>www.reactivereality.com/pictofit?utm_source=chatgpt.com</a:t>
            </a:r>
            <a:endParaRPr lang="tr-TR" b="1" dirty="0">
              <a:latin typeface="Montserrat" panose="00000500000000000000" pitchFamily="2" charset="-94"/>
            </a:endParaRPr>
          </a:p>
        </p:txBody>
      </p:sp>
      <p:sp>
        <p:nvSpPr>
          <p:cNvPr id="3" name="Dikdörtgen 2"/>
          <p:cNvSpPr/>
          <p:nvPr/>
        </p:nvSpPr>
        <p:spPr>
          <a:xfrm>
            <a:off x="805960" y="1663840"/>
            <a:ext cx="9428286" cy="369332"/>
          </a:xfrm>
          <a:prstGeom prst="rect">
            <a:avLst/>
          </a:prstGeom>
        </p:spPr>
        <p:txBody>
          <a:bodyPr wrap="square">
            <a:spAutoFit/>
          </a:bodyPr>
          <a:lstStyle/>
          <a:p>
            <a:pPr fontAlgn="base"/>
            <a:r>
              <a:rPr lang="tr-TR" b="1" dirty="0" err="1">
                <a:latin typeface="Montserrat" panose="00000500000000000000" pitchFamily="2" charset="-94"/>
              </a:rPr>
              <a:t>PICTOFiT</a:t>
            </a:r>
            <a:r>
              <a:rPr lang="tr-TR" b="1" dirty="0">
                <a:latin typeface="Montserrat" panose="00000500000000000000" pitchFamily="2" charset="-94"/>
              </a:rPr>
              <a:t>, Moda Ürünlerini Akıllı Sanal Varlıklara Dönüştürüyor</a:t>
            </a:r>
            <a:endParaRPr lang="tr-TR" b="1" i="0" dirty="0">
              <a:effectLst/>
              <a:latin typeface="Montserrat" panose="00000500000000000000" pitchFamily="2" charset="-94"/>
            </a:endParaRPr>
          </a:p>
        </p:txBody>
      </p:sp>
      <p:sp>
        <p:nvSpPr>
          <p:cNvPr id="5" name="Dikdörtgen 4"/>
          <p:cNvSpPr/>
          <p:nvPr/>
        </p:nvSpPr>
        <p:spPr>
          <a:xfrm>
            <a:off x="805960" y="1224253"/>
            <a:ext cx="6872394" cy="369332"/>
          </a:xfrm>
          <a:prstGeom prst="rect">
            <a:avLst/>
          </a:prstGeom>
        </p:spPr>
        <p:txBody>
          <a:bodyPr wrap="none">
            <a:spAutoFit/>
          </a:bodyPr>
          <a:lstStyle/>
          <a:p>
            <a:r>
              <a:rPr lang="tr-TR" b="1" dirty="0">
                <a:latin typeface="Montserrat" panose="00000500000000000000" pitchFamily="2" charset="-94"/>
              </a:rPr>
              <a:t>3D ürün modelleri ve sanal üstünde deneme yapılabilir.</a:t>
            </a:r>
          </a:p>
        </p:txBody>
      </p:sp>
    </p:spTree>
    <p:extLst>
      <p:ext uri="{BB962C8B-B14F-4D97-AF65-F5344CB8AC3E}">
        <p14:creationId xmlns:p14="http://schemas.microsoft.com/office/powerpoint/2010/main" val="23639243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1827043" y="219808"/>
            <a:ext cx="3632980" cy="523220"/>
          </a:xfrm>
          <a:prstGeom prst="rect">
            <a:avLst/>
          </a:prstGeom>
          <a:noFill/>
        </p:spPr>
        <p:txBody>
          <a:bodyPr wrap="square" rtlCol="0">
            <a:spAutoFit/>
          </a:bodyPr>
          <a:lstStyle/>
          <a:p>
            <a:pPr algn="ctr"/>
            <a:r>
              <a:rPr lang="tr-TR" sz="2800" b="1" dirty="0" smtClean="0"/>
              <a:t>İlgili programlar</a:t>
            </a:r>
            <a:endParaRPr lang="tr-TR" sz="2800" b="1" dirty="0"/>
          </a:p>
        </p:txBody>
      </p:sp>
      <p:sp>
        <p:nvSpPr>
          <p:cNvPr id="8" name="Dikdörtgen 7"/>
          <p:cNvSpPr/>
          <p:nvPr/>
        </p:nvSpPr>
        <p:spPr>
          <a:xfrm>
            <a:off x="175845" y="1318847"/>
            <a:ext cx="11922369" cy="5262979"/>
          </a:xfrm>
          <a:prstGeom prst="rect">
            <a:avLst/>
          </a:prstGeom>
        </p:spPr>
        <p:txBody>
          <a:bodyPr wrap="square">
            <a:spAutoFit/>
          </a:bodyPr>
          <a:lstStyle/>
          <a:p>
            <a:r>
              <a:rPr lang="tr-TR" sz="1600" b="1" i="0" dirty="0" err="1" smtClean="0">
                <a:solidFill>
                  <a:srgbClr val="0D0D0D"/>
                </a:solidFill>
                <a:effectLst/>
                <a:latin typeface="ui-sans-serif"/>
              </a:rPr>
              <a:t>Refabric</a:t>
            </a:r>
            <a:endParaRPr lang="tr-TR" sz="1600" b="1" i="0" dirty="0" smtClean="0">
              <a:solidFill>
                <a:srgbClr val="0D0D0D"/>
              </a:solidFill>
              <a:effectLst/>
              <a:latin typeface="ui-sans-serif"/>
            </a:endParaRPr>
          </a:p>
          <a:p>
            <a:r>
              <a:rPr lang="tr-TR" sz="1600" b="0" i="0" dirty="0" err="1" smtClean="0">
                <a:solidFill>
                  <a:srgbClr val="0D0D0D"/>
                </a:solidFill>
                <a:effectLst/>
                <a:latin typeface="ui-sans-serif"/>
              </a:rPr>
              <a:t>Refabric</a:t>
            </a:r>
            <a:r>
              <a:rPr lang="tr-TR" sz="1600" b="0" i="0" dirty="0" smtClean="0">
                <a:solidFill>
                  <a:srgbClr val="0D0D0D"/>
                </a:solidFill>
                <a:effectLst/>
                <a:latin typeface="ui-sans-serif"/>
              </a:rPr>
              <a:t>, bir yapay zekâ destekli moda platformudur. Şirket, kullanıcıların metin girdilerinden kişiselleştirilmiş giyim tasarımları oluşturmasını sağlayan teknolojiler geliştirir. Moda tasarımı süreçlerini hızlandırarak dijital ve fiziksel üretim arasındaki boşluğu kapatmayı hedefler.</a:t>
            </a:r>
          </a:p>
          <a:p>
            <a:r>
              <a:rPr lang="tr-TR" sz="1600" b="1" i="0" dirty="0" smtClean="0">
                <a:solidFill>
                  <a:srgbClr val="0D0D0D"/>
                </a:solidFill>
                <a:effectLst/>
                <a:latin typeface="ui-sans-serif"/>
              </a:rPr>
              <a:t>Temel Bilgiler</a:t>
            </a:r>
          </a:p>
          <a:p>
            <a:pPr>
              <a:buFont typeface="Arial" panose="020B0604020202020204" pitchFamily="34" charset="0"/>
              <a:buChar char="•"/>
            </a:pPr>
            <a:r>
              <a:rPr lang="tr-TR" sz="1600" b="1" i="0" dirty="0" smtClean="0">
                <a:solidFill>
                  <a:srgbClr val="0D0D0D"/>
                </a:solidFill>
                <a:effectLst/>
                <a:latin typeface="ui-sans-serif"/>
              </a:rPr>
              <a:t>Kuruluş Yılı:</a:t>
            </a:r>
            <a:r>
              <a:rPr lang="tr-TR" sz="1600" b="0" i="0" dirty="0" smtClean="0">
                <a:solidFill>
                  <a:srgbClr val="0D0D0D"/>
                </a:solidFill>
                <a:effectLst/>
                <a:latin typeface="ui-sans-serif"/>
              </a:rPr>
              <a:t> 2023</a:t>
            </a:r>
          </a:p>
          <a:p>
            <a:pPr>
              <a:buFont typeface="Arial" panose="020B0604020202020204" pitchFamily="34" charset="0"/>
              <a:buChar char="•"/>
            </a:pPr>
            <a:r>
              <a:rPr lang="tr-TR" sz="1600" b="1" i="0" dirty="0" smtClean="0">
                <a:solidFill>
                  <a:srgbClr val="0D0D0D"/>
                </a:solidFill>
                <a:effectLst/>
                <a:latin typeface="ui-sans-serif"/>
              </a:rPr>
              <a:t>Merkez:</a:t>
            </a:r>
            <a:r>
              <a:rPr lang="tr-TR" sz="1600" b="0" i="0" dirty="0" smtClean="0">
                <a:solidFill>
                  <a:srgbClr val="0D0D0D"/>
                </a:solidFill>
                <a:effectLst/>
                <a:latin typeface="ui-sans-serif"/>
              </a:rPr>
              <a:t> Londra, Birleşik Krallık</a:t>
            </a:r>
          </a:p>
          <a:p>
            <a:pPr>
              <a:buFont typeface="Arial" panose="020B0604020202020204" pitchFamily="34" charset="0"/>
              <a:buChar char="•"/>
            </a:pPr>
            <a:r>
              <a:rPr lang="tr-TR" sz="1600" b="1" i="0" dirty="0" smtClean="0">
                <a:solidFill>
                  <a:srgbClr val="0D0D0D"/>
                </a:solidFill>
                <a:effectLst/>
                <a:latin typeface="ui-sans-serif"/>
              </a:rPr>
              <a:t>Alan:</a:t>
            </a:r>
            <a:r>
              <a:rPr lang="tr-TR" sz="1600" b="0" i="0" dirty="0" smtClean="0">
                <a:solidFill>
                  <a:srgbClr val="0D0D0D"/>
                </a:solidFill>
                <a:effectLst/>
                <a:latin typeface="ui-sans-serif"/>
              </a:rPr>
              <a:t> Yapay zekâ destekli moda teknolojisi</a:t>
            </a:r>
          </a:p>
          <a:p>
            <a:pPr>
              <a:buFont typeface="Arial" panose="020B0604020202020204" pitchFamily="34" charset="0"/>
              <a:buChar char="•"/>
            </a:pPr>
            <a:r>
              <a:rPr lang="tr-TR" sz="1600" b="1" i="0" dirty="0" smtClean="0">
                <a:solidFill>
                  <a:srgbClr val="0D0D0D"/>
                </a:solidFill>
                <a:effectLst/>
                <a:latin typeface="ui-sans-serif"/>
              </a:rPr>
              <a:t>Odak:</a:t>
            </a:r>
            <a:r>
              <a:rPr lang="tr-TR" sz="1600" b="0" i="0" dirty="0" smtClean="0">
                <a:solidFill>
                  <a:srgbClr val="0D0D0D"/>
                </a:solidFill>
                <a:effectLst/>
                <a:latin typeface="ui-sans-serif"/>
              </a:rPr>
              <a:t> Dijital tasarım, üretim entegrasyonu, kişiselleştirilmiş moda</a:t>
            </a:r>
          </a:p>
          <a:p>
            <a:r>
              <a:rPr lang="tr-TR" sz="1600" b="1" i="0" dirty="0" smtClean="0">
                <a:solidFill>
                  <a:srgbClr val="0D0D0D"/>
                </a:solidFill>
                <a:effectLst/>
                <a:latin typeface="ui-sans-serif"/>
              </a:rPr>
              <a:t>Teknoloji ve Yaklaşım</a:t>
            </a:r>
          </a:p>
          <a:p>
            <a:r>
              <a:rPr lang="tr-TR" sz="1600" b="0" i="0" dirty="0" err="1" smtClean="0">
                <a:solidFill>
                  <a:srgbClr val="0D0D0D"/>
                </a:solidFill>
                <a:effectLst/>
                <a:latin typeface="ui-sans-serif"/>
              </a:rPr>
              <a:t>Refabric</a:t>
            </a:r>
            <a:r>
              <a:rPr lang="tr-TR" sz="1600" b="0" i="0" dirty="0" smtClean="0">
                <a:solidFill>
                  <a:srgbClr val="0D0D0D"/>
                </a:solidFill>
                <a:effectLst/>
                <a:latin typeface="ui-sans-serif"/>
              </a:rPr>
              <a:t>, üretken yapay zekâ modellerini kullanarak kullanıcı girdilerini dijital giyim tasarımlarına dönüştürür. Platform, metin açıklamalarını veya referans görselleri analiz eder, ardından giyim stillerini yüksek çözünürlüklü dijital örneklere dönüştürür. Bu süreç, moda tasarımcılarının ve markaların koleksiyon geliştirme süresini önemli ölçüde kısaltmayı amaçlar.</a:t>
            </a:r>
          </a:p>
          <a:p>
            <a:r>
              <a:rPr lang="tr-TR" sz="1600" b="1" i="0" dirty="0" smtClean="0">
                <a:solidFill>
                  <a:srgbClr val="0D0D0D"/>
                </a:solidFill>
                <a:effectLst/>
                <a:latin typeface="ui-sans-serif"/>
              </a:rPr>
              <a:t>Moda Endüstrisindeki Rolü</a:t>
            </a:r>
          </a:p>
          <a:p>
            <a:r>
              <a:rPr lang="tr-TR" sz="1600" b="0" i="0" dirty="0" smtClean="0">
                <a:solidFill>
                  <a:srgbClr val="0D0D0D"/>
                </a:solidFill>
                <a:effectLst/>
                <a:latin typeface="ui-sans-serif"/>
              </a:rPr>
              <a:t>Şirket, moda üreticileriyle dijital </a:t>
            </a:r>
            <a:r>
              <a:rPr lang="tr-TR" sz="1600" b="0" i="0" dirty="0" err="1" smtClean="0">
                <a:solidFill>
                  <a:srgbClr val="0D0D0D"/>
                </a:solidFill>
                <a:effectLst/>
                <a:latin typeface="ui-sans-serif"/>
              </a:rPr>
              <a:t>prototipleme</a:t>
            </a:r>
            <a:r>
              <a:rPr lang="tr-TR" sz="1600" b="0" i="0" dirty="0" smtClean="0">
                <a:solidFill>
                  <a:srgbClr val="0D0D0D"/>
                </a:solidFill>
                <a:effectLst/>
                <a:latin typeface="ui-sans-serif"/>
              </a:rPr>
              <a:t> ve kişiye özel tasarım alanlarında işbirliği yapar. Bu sayede sürdürülebilir üretim modellerini destekler; stok fazlasını azaltmak ve atıkları en aza indirmek gibi hedeflere katkıda bulunur. </a:t>
            </a:r>
            <a:r>
              <a:rPr lang="tr-TR" sz="1600" b="0" i="0" dirty="0" err="1" smtClean="0">
                <a:solidFill>
                  <a:srgbClr val="0D0D0D"/>
                </a:solidFill>
                <a:effectLst/>
                <a:latin typeface="ui-sans-serif"/>
              </a:rPr>
              <a:t>Refabric’in</a:t>
            </a:r>
            <a:r>
              <a:rPr lang="tr-TR" sz="1600" b="0" i="0" dirty="0" smtClean="0">
                <a:solidFill>
                  <a:srgbClr val="0D0D0D"/>
                </a:solidFill>
                <a:effectLst/>
                <a:latin typeface="ui-sans-serif"/>
              </a:rPr>
              <a:t> teknolojisi, modada veri odaklı yaratıcılığın ve üretim verimliliğinin birleşimini temsil eder.</a:t>
            </a:r>
          </a:p>
          <a:p>
            <a:r>
              <a:rPr lang="tr-TR" sz="1600" b="1" i="0" dirty="0" smtClean="0">
                <a:solidFill>
                  <a:srgbClr val="0D0D0D"/>
                </a:solidFill>
                <a:effectLst/>
                <a:latin typeface="ui-sans-serif"/>
              </a:rPr>
              <a:t>Gelişim ve Etki</a:t>
            </a:r>
          </a:p>
          <a:p>
            <a:r>
              <a:rPr lang="tr-TR" sz="1600" b="0" i="0" dirty="0" err="1" smtClean="0">
                <a:solidFill>
                  <a:srgbClr val="0D0D0D"/>
                </a:solidFill>
                <a:effectLst/>
                <a:latin typeface="ui-sans-serif"/>
              </a:rPr>
              <a:t>Refabric</a:t>
            </a:r>
            <a:r>
              <a:rPr lang="tr-TR" sz="1600" b="0" i="0" dirty="0" smtClean="0">
                <a:solidFill>
                  <a:srgbClr val="0D0D0D"/>
                </a:solidFill>
                <a:effectLst/>
                <a:latin typeface="ui-sans-serif"/>
              </a:rPr>
              <a:t>, dijital moda pazarında hızla tanınan bir girişimdir. Geliştirilen yapay zekâ motoru, moda endüstrisinde yeni iş modellerinin önünü açarak tasarımcılara, e-ticaret platformlarına ve tüketicilere daha etkileşimli bir deneyim sunar. Şirketin vizyonu, moda yaratımını herkes için erişilebilir ve çevik hâle getirmektir.</a:t>
            </a:r>
            <a:endParaRPr lang="tr-TR" sz="1600" b="0" i="0" dirty="0">
              <a:solidFill>
                <a:srgbClr val="0D0D0D"/>
              </a:solidFill>
              <a:effectLst/>
              <a:latin typeface="ui-sans-serif"/>
            </a:endParaRPr>
          </a:p>
        </p:txBody>
      </p:sp>
      <p:sp>
        <p:nvSpPr>
          <p:cNvPr id="9" name="Dikdörtgen 8"/>
          <p:cNvSpPr/>
          <p:nvPr/>
        </p:nvSpPr>
        <p:spPr>
          <a:xfrm>
            <a:off x="175845" y="846271"/>
            <a:ext cx="7385420" cy="461665"/>
          </a:xfrm>
          <a:prstGeom prst="rect">
            <a:avLst/>
          </a:prstGeom>
        </p:spPr>
        <p:txBody>
          <a:bodyPr wrap="none">
            <a:spAutoFit/>
          </a:bodyPr>
          <a:lstStyle/>
          <a:p>
            <a:r>
              <a:rPr lang="tr-TR" sz="2400" b="1" dirty="0" err="1" smtClean="0"/>
              <a:t>Refabric</a:t>
            </a:r>
            <a:r>
              <a:rPr lang="tr-TR" sz="2400" b="1" dirty="0" smtClean="0"/>
              <a:t> – AI ile Koleksiyon Oluşturma (Ekran Üzerinden)</a:t>
            </a:r>
            <a:endParaRPr lang="tr-TR" sz="2400" dirty="0"/>
          </a:p>
        </p:txBody>
      </p:sp>
    </p:spTree>
    <p:extLst>
      <p:ext uri="{BB962C8B-B14F-4D97-AF65-F5344CB8AC3E}">
        <p14:creationId xmlns:p14="http://schemas.microsoft.com/office/powerpoint/2010/main" val="29715254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439615" y="604247"/>
            <a:ext cx="631454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1" i="0" u="none" strike="noStrike" cap="none" normalizeH="0" baseline="0" dirty="0" smtClean="0">
                <a:ln>
                  <a:noFill/>
                </a:ln>
                <a:solidFill>
                  <a:schemeClr val="tx1"/>
                </a:solidFill>
                <a:effectLst/>
                <a:latin typeface="Arial" panose="020B0604020202020204" pitchFamily="34" charset="0"/>
              </a:rPr>
              <a:t>Bu videolarda ne görünüyor?</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err="1" smtClean="0">
                <a:ln>
                  <a:noFill/>
                </a:ln>
                <a:solidFill>
                  <a:schemeClr val="tx1"/>
                </a:solidFill>
                <a:effectLst/>
                <a:latin typeface="Arial" panose="020B0604020202020204" pitchFamily="34" charset="0"/>
              </a:rPr>
              <a:t>Prompt</a:t>
            </a:r>
            <a:r>
              <a:rPr kumimoji="0" lang="tr-TR" altLang="tr-TR" sz="2400" b="0" i="0" u="none" strike="noStrike" cap="none" normalizeH="0" baseline="0" dirty="0" smtClean="0">
                <a:ln>
                  <a:noFill/>
                </a:ln>
                <a:solidFill>
                  <a:schemeClr val="tx1"/>
                </a:solidFill>
                <a:effectLst/>
                <a:latin typeface="Arial" panose="020B0604020202020204" pitchFamily="34" charset="0"/>
              </a:rPr>
              <a:t> girilmesi (tema, sezon, renk, kumaş)</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err="1" smtClean="0">
                <a:ln>
                  <a:noFill/>
                </a:ln>
                <a:solidFill>
                  <a:schemeClr val="tx1"/>
                </a:solidFill>
                <a:effectLst/>
                <a:latin typeface="Arial" panose="020B0604020202020204" pitchFamily="34" charset="0"/>
              </a:rPr>
              <a:t>AI’ın</a:t>
            </a:r>
            <a:r>
              <a:rPr kumimoji="0" lang="tr-TR" altLang="tr-TR" sz="2400" b="0" i="0" u="none" strike="noStrike" cap="none" normalizeH="0" baseline="0" dirty="0" smtClean="0">
                <a:ln>
                  <a:noFill/>
                </a:ln>
                <a:solidFill>
                  <a:schemeClr val="tx1"/>
                </a:solidFill>
                <a:effectLst/>
                <a:latin typeface="Arial" panose="020B0604020202020204" pitchFamily="34" charset="0"/>
              </a:rPr>
              <a:t> </a:t>
            </a:r>
            <a:r>
              <a:rPr kumimoji="0" lang="tr-TR" altLang="tr-TR" sz="2400" b="1" i="0" u="none" strike="noStrike" cap="none" normalizeH="0" baseline="0" dirty="0" smtClean="0">
                <a:ln>
                  <a:noFill/>
                </a:ln>
                <a:solidFill>
                  <a:schemeClr val="tx1"/>
                </a:solidFill>
                <a:effectLst/>
                <a:latin typeface="Arial" panose="020B0604020202020204" pitchFamily="34" charset="0"/>
              </a:rPr>
              <a:t>tasarım varyasyonları üretmesi</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err="1" smtClean="0">
                <a:ln>
                  <a:noFill/>
                </a:ln>
                <a:solidFill>
                  <a:schemeClr val="tx1"/>
                </a:solidFill>
                <a:effectLst/>
                <a:latin typeface="Arial" panose="020B0604020202020204" pitchFamily="34" charset="0"/>
              </a:rPr>
              <a:t>Moodboard</a:t>
            </a:r>
            <a:r>
              <a:rPr kumimoji="0" lang="tr-TR" altLang="tr-TR" sz="2400" b="0" i="0" u="none" strike="noStrike" cap="none" normalizeH="0" baseline="0" dirty="0" smtClean="0">
                <a:ln>
                  <a:noFill/>
                </a:ln>
                <a:solidFill>
                  <a:schemeClr val="tx1"/>
                </a:solidFill>
                <a:effectLst/>
                <a:latin typeface="Arial" panose="020B0604020202020204" pitchFamily="34" charset="0"/>
              </a:rPr>
              <a:t> + koleksiyon çıktısı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smtClean="0">
                <a:ln>
                  <a:noFill/>
                </a:ln>
                <a:solidFill>
                  <a:schemeClr val="tx1"/>
                </a:solidFill>
                <a:effectLst/>
                <a:latin typeface="Arial" panose="020B0604020202020204" pitchFamily="34" charset="0"/>
              </a:rPr>
              <a:t>Tasarımların indirilebilir hale gelmesi</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chemeClr val="tx1"/>
                </a:solidFill>
                <a:effectLst/>
                <a:latin typeface="Arial" panose="020B0604020202020204" pitchFamily="34" charset="0"/>
              </a:rPr>
              <a:t>🔗 </a:t>
            </a:r>
            <a:r>
              <a:rPr kumimoji="0" lang="tr-TR" altLang="tr-TR" sz="2400" b="1" i="0" u="none" strike="noStrike" cap="none" normalizeH="0" baseline="0" dirty="0" smtClean="0">
                <a:ln>
                  <a:noFill/>
                </a:ln>
                <a:solidFill>
                  <a:schemeClr val="tx1"/>
                </a:solidFill>
                <a:effectLst/>
                <a:latin typeface="Arial" panose="020B0604020202020204" pitchFamily="34" charset="0"/>
              </a:rPr>
              <a:t>Arama başlığı (</a:t>
            </a:r>
            <a:r>
              <a:rPr kumimoji="0" lang="tr-TR" altLang="tr-TR" sz="2400" b="1" i="0" u="none" strike="noStrike" cap="none" normalizeH="0" baseline="0" dirty="0" err="1" smtClean="0">
                <a:ln>
                  <a:noFill/>
                </a:ln>
                <a:solidFill>
                  <a:schemeClr val="tx1"/>
                </a:solidFill>
                <a:effectLst/>
                <a:latin typeface="Arial" panose="020B0604020202020204" pitchFamily="34" charset="0"/>
              </a:rPr>
              <a:t>YouTube</a:t>
            </a:r>
            <a:r>
              <a:rPr kumimoji="0" lang="tr-TR" altLang="tr-TR" sz="2400" b="1" i="0" u="none" strike="noStrike" cap="none" normalizeH="0" baseline="0" dirty="0" smtClean="0">
                <a:ln>
                  <a:noFill/>
                </a:ln>
                <a:solidFill>
                  <a:schemeClr val="tx1"/>
                </a:solidFill>
                <a:effectLst/>
                <a:latin typeface="Arial" panose="020B0604020202020204" pitchFamily="34" charset="0"/>
              </a:rPr>
              <a:t> / Google):</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Refabric</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AI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collection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demo</a:t>
            </a:r>
            <a:r>
              <a:rPr kumimoji="0" lang="tr-TR" altLang="tr-TR" sz="2400" b="0" i="0" u="none" strike="noStrike" cap="none" normalizeH="0" baseline="0" dirty="0" smtClean="0">
                <a:ln>
                  <a:noFill/>
                </a:ln>
                <a:solidFill>
                  <a:schemeClr val="tx1"/>
                </a:solidFill>
                <a:effectLst/>
              </a:rPr>
              <a:t/>
            </a:r>
            <a:br>
              <a:rPr kumimoji="0" lang="tr-TR" altLang="tr-TR" sz="2400" b="0" i="0" u="none" strike="noStrike" cap="none" normalizeH="0" baseline="0" dirty="0" smtClean="0">
                <a:ln>
                  <a:noFill/>
                </a:ln>
                <a:solidFill>
                  <a:schemeClr val="tx1"/>
                </a:solidFill>
                <a:effectLst/>
              </a:rPr>
            </a:b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Refabric</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AI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fashion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design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screen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recording</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55715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016665" y="492342"/>
            <a:ext cx="6910097" cy="523220"/>
          </a:xfrm>
          <a:prstGeom prst="rect">
            <a:avLst/>
          </a:prstGeom>
        </p:spPr>
        <p:txBody>
          <a:bodyPr wrap="none">
            <a:spAutoFit/>
          </a:bodyPr>
          <a:lstStyle/>
          <a:p>
            <a:r>
              <a:rPr lang="it-IT" sz="2800" b="1" dirty="0" smtClean="0"/>
              <a:t>CLO 3D + AI (Gerçek Giydirme ve Simülasyon)</a:t>
            </a:r>
            <a:endParaRPr lang="tr-TR" sz="2800" dirty="0"/>
          </a:p>
        </p:txBody>
      </p:sp>
      <p:sp>
        <p:nvSpPr>
          <p:cNvPr id="3" name="Rectangle 1"/>
          <p:cNvSpPr>
            <a:spLocks noChangeArrowheads="1"/>
          </p:cNvSpPr>
          <p:nvPr/>
        </p:nvSpPr>
        <p:spPr bwMode="auto">
          <a:xfrm>
            <a:off x="615461" y="1602170"/>
            <a:ext cx="606127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800" b="1" i="0" u="none" strike="noStrike" cap="none" normalizeH="0" baseline="0" dirty="0" smtClean="0">
                <a:ln>
                  <a:noFill/>
                </a:ln>
                <a:solidFill>
                  <a:schemeClr val="tx1"/>
                </a:solidFill>
                <a:effectLst/>
                <a:latin typeface="Arial" panose="020B0604020202020204" pitchFamily="34" charset="0"/>
              </a:rPr>
              <a:t>Gerçek uygulama içeriği:</a:t>
            </a:r>
            <a:endParaRPr kumimoji="0" lang="tr-TR" altLang="tr-TR" sz="2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800" b="0" i="0" u="none" strike="noStrike" cap="none" normalizeH="0" baseline="0" dirty="0" smtClean="0">
                <a:ln>
                  <a:noFill/>
                </a:ln>
                <a:solidFill>
                  <a:schemeClr val="tx1"/>
                </a:solidFill>
                <a:effectLst/>
                <a:latin typeface="Arial" panose="020B0604020202020204" pitchFamily="34" charset="0"/>
              </a:rPr>
              <a:t>2D kalıp → 3D kıyafet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800" b="0" i="0" u="none" strike="noStrike" cap="none" normalizeH="0" baseline="0" dirty="0" err="1" smtClean="0">
                <a:ln>
                  <a:noFill/>
                </a:ln>
                <a:solidFill>
                  <a:schemeClr val="tx1"/>
                </a:solidFill>
                <a:effectLst/>
                <a:latin typeface="Arial" panose="020B0604020202020204" pitchFamily="34" charset="0"/>
              </a:rPr>
              <a:t>Avatar</a:t>
            </a:r>
            <a:r>
              <a:rPr kumimoji="0" lang="tr-TR" altLang="tr-TR" sz="2800" b="0" i="0" u="none" strike="noStrike" cap="none" normalizeH="0" baseline="0" dirty="0" smtClean="0">
                <a:ln>
                  <a:noFill/>
                </a:ln>
                <a:solidFill>
                  <a:schemeClr val="tx1"/>
                </a:solidFill>
                <a:effectLst/>
                <a:latin typeface="Arial" panose="020B0604020202020204" pitchFamily="34" charset="0"/>
              </a:rPr>
              <a:t> üzerinde </a:t>
            </a:r>
            <a:r>
              <a:rPr kumimoji="0" lang="tr-TR" altLang="tr-TR" sz="2800" b="1" i="0" u="none" strike="noStrike" cap="none" normalizeH="0" baseline="0" dirty="0" smtClean="0">
                <a:ln>
                  <a:noFill/>
                </a:ln>
                <a:solidFill>
                  <a:schemeClr val="tx1"/>
                </a:solidFill>
                <a:effectLst/>
                <a:latin typeface="Arial" panose="020B0604020202020204" pitchFamily="34" charset="0"/>
              </a:rPr>
              <a:t>canlı giydirme</a:t>
            </a:r>
            <a:endParaRPr kumimoji="0" lang="tr-TR" altLang="tr-TR" sz="2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800" b="0" i="0" u="none" strike="noStrike" cap="none" normalizeH="0" baseline="0" dirty="0" smtClean="0">
                <a:ln>
                  <a:noFill/>
                </a:ln>
                <a:solidFill>
                  <a:schemeClr val="tx1"/>
                </a:solidFill>
                <a:effectLst/>
                <a:latin typeface="Arial" panose="020B0604020202020204" pitchFamily="34" charset="0"/>
              </a:rPr>
              <a:t>Kumaş fiziği (AI destekli)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800" b="0" i="0" u="none" strike="noStrike" cap="none" normalizeH="0" baseline="0" dirty="0" smtClean="0">
                <a:ln>
                  <a:noFill/>
                </a:ln>
                <a:solidFill>
                  <a:schemeClr val="tx1"/>
                </a:solidFill>
                <a:effectLst/>
                <a:latin typeface="Arial" panose="020B0604020202020204" pitchFamily="34" charset="0"/>
              </a:rPr>
              <a:t>Yürüyüş / poz simülasyonu</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smtClean="0">
                <a:ln>
                  <a:noFill/>
                </a:ln>
                <a:solidFill>
                  <a:schemeClr val="tx1"/>
                </a:solidFill>
                <a:effectLst/>
                <a:latin typeface="Arial" panose="020B0604020202020204" pitchFamily="34" charset="0"/>
              </a:rPr>
              <a:t>🔗 Arama:</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800" b="0" i="0" u="none" strike="noStrike" cap="none" normalizeH="0" baseline="0" dirty="0" smtClean="0">
                <a:ln>
                  <a:noFill/>
                </a:ln>
                <a:solidFill>
                  <a:schemeClr val="tx1"/>
                </a:solidFill>
                <a:effectLst/>
                <a:latin typeface="Arial Unicode MS" panose="020B0604020202020204" pitchFamily="34" charset="-128"/>
              </a:rPr>
              <a:t>CLO 3D AI </a:t>
            </a:r>
            <a:r>
              <a:rPr kumimoji="0" lang="tr-TR" altLang="tr-TR" sz="2800" b="0" i="0" u="none" strike="noStrike" cap="none" normalizeH="0" baseline="0" dirty="0" err="1" smtClean="0">
                <a:ln>
                  <a:noFill/>
                </a:ln>
                <a:solidFill>
                  <a:schemeClr val="tx1"/>
                </a:solidFill>
                <a:effectLst/>
                <a:latin typeface="Arial Unicode MS" panose="020B0604020202020204" pitchFamily="34" charset="-128"/>
              </a:rPr>
              <a:t>garment</a:t>
            </a:r>
            <a:r>
              <a:rPr kumimoji="0" lang="tr-TR" altLang="tr-TR" sz="28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800" b="0" i="0" u="none" strike="noStrike" cap="none" normalizeH="0" baseline="0" dirty="0" err="1" smtClean="0">
                <a:ln>
                  <a:noFill/>
                </a:ln>
                <a:solidFill>
                  <a:schemeClr val="tx1"/>
                </a:solidFill>
                <a:effectLst/>
                <a:latin typeface="Arial Unicode MS" panose="020B0604020202020204" pitchFamily="34" charset="-128"/>
              </a:rPr>
              <a:t>simulation</a:t>
            </a:r>
            <a:r>
              <a:rPr kumimoji="0" lang="tr-TR" altLang="tr-TR" sz="28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800" b="0" i="0" u="none" strike="noStrike" cap="none" normalizeH="0" baseline="0" dirty="0" err="1" smtClean="0">
                <a:ln>
                  <a:noFill/>
                </a:ln>
                <a:solidFill>
                  <a:schemeClr val="tx1"/>
                </a:solidFill>
                <a:effectLst/>
                <a:latin typeface="Arial Unicode MS" panose="020B0604020202020204" pitchFamily="34" charset="-128"/>
              </a:rPr>
              <a:t>demo</a:t>
            </a:r>
            <a:endParaRPr kumimoji="0" lang="tr-TR" altLang="tr-TR" sz="2800" b="0" i="0" u="none" strike="noStrike" cap="none" normalizeH="0" baseline="0" dirty="0" smtClean="0">
              <a:ln>
                <a:noFill/>
              </a:ln>
              <a:solidFill>
                <a:schemeClr val="tx1"/>
              </a:solidFill>
              <a:effectLst/>
              <a:latin typeface="Arial" panose="020B0604020202020204" pitchFamily="34" charset="0"/>
            </a:endParaRPr>
          </a:p>
        </p:txBody>
      </p:sp>
      <p:sp>
        <p:nvSpPr>
          <p:cNvPr id="4" name="Dikdörtgen 3"/>
          <p:cNvSpPr/>
          <p:nvPr/>
        </p:nvSpPr>
        <p:spPr>
          <a:xfrm>
            <a:off x="615461" y="5015943"/>
            <a:ext cx="6096000" cy="923330"/>
          </a:xfrm>
          <a:prstGeom prst="rect">
            <a:avLst/>
          </a:prstGeom>
        </p:spPr>
        <p:txBody>
          <a:bodyPr>
            <a:spAutoFit/>
          </a:bodyPr>
          <a:lstStyle/>
          <a:p>
            <a:r>
              <a:rPr lang="tr-TR" b="1" dirty="0" smtClean="0"/>
              <a:t>Öğrenci için ideal</a:t>
            </a:r>
            <a:r>
              <a:rPr lang="tr-TR" dirty="0" smtClean="0"/>
              <a:t>, çünkü:</a:t>
            </a:r>
          </a:p>
          <a:p>
            <a:pPr>
              <a:buFont typeface="Arial" panose="020B0604020202020204" pitchFamily="34" charset="0"/>
              <a:buChar char="•"/>
            </a:pPr>
            <a:r>
              <a:rPr lang="tr-TR" dirty="0" smtClean="0"/>
              <a:t>Moda + teknik</a:t>
            </a:r>
          </a:p>
          <a:p>
            <a:pPr>
              <a:buFont typeface="Arial" panose="020B0604020202020204" pitchFamily="34" charset="0"/>
              <a:buChar char="•"/>
            </a:pPr>
            <a:r>
              <a:rPr lang="tr-TR" dirty="0" smtClean="0"/>
              <a:t>AI somut çıktıya dönüşüyor</a:t>
            </a:r>
            <a:endParaRPr lang="tr-TR" dirty="0"/>
          </a:p>
        </p:txBody>
      </p:sp>
      <p:sp>
        <p:nvSpPr>
          <p:cNvPr id="5" name="Dikdörtgen 4"/>
          <p:cNvSpPr/>
          <p:nvPr/>
        </p:nvSpPr>
        <p:spPr>
          <a:xfrm>
            <a:off x="615461" y="1080223"/>
            <a:ext cx="2831288" cy="369332"/>
          </a:xfrm>
          <a:prstGeom prst="rect">
            <a:avLst/>
          </a:prstGeom>
        </p:spPr>
        <p:txBody>
          <a:bodyPr wrap="none">
            <a:spAutoFit/>
          </a:bodyPr>
          <a:lstStyle/>
          <a:p>
            <a:r>
              <a:rPr lang="tr-TR" dirty="0"/>
              <a:t>https://www.clo3d.com/en/</a:t>
            </a:r>
          </a:p>
        </p:txBody>
      </p:sp>
    </p:spTree>
    <p:extLst>
      <p:ext uri="{BB962C8B-B14F-4D97-AF65-F5344CB8AC3E}">
        <p14:creationId xmlns:p14="http://schemas.microsoft.com/office/powerpoint/2010/main" val="11702710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726340" y="413211"/>
            <a:ext cx="8607164" cy="523220"/>
          </a:xfrm>
          <a:prstGeom prst="rect">
            <a:avLst/>
          </a:prstGeom>
        </p:spPr>
        <p:txBody>
          <a:bodyPr wrap="none">
            <a:spAutoFit/>
          </a:bodyPr>
          <a:lstStyle/>
          <a:p>
            <a:r>
              <a:rPr lang="fr-FR" sz="2800" dirty="0" err="1" smtClean="0"/>
              <a:t>Midjourney</a:t>
            </a:r>
            <a:r>
              <a:rPr lang="fr-FR" sz="2800" dirty="0" smtClean="0"/>
              <a:t> / Stable Diffusion – </a:t>
            </a:r>
            <a:r>
              <a:rPr lang="fr-FR" sz="2800" dirty="0" err="1" smtClean="0"/>
              <a:t>Moda</a:t>
            </a:r>
            <a:r>
              <a:rPr lang="fr-FR" sz="2800" dirty="0" smtClean="0"/>
              <a:t> Prompt </a:t>
            </a:r>
            <a:r>
              <a:rPr lang="fr-FR" sz="2800" dirty="0" err="1" smtClean="0"/>
              <a:t>Uygulaması</a:t>
            </a:r>
            <a:endParaRPr lang="tr-TR" sz="2800" dirty="0"/>
          </a:p>
        </p:txBody>
      </p:sp>
      <p:sp>
        <p:nvSpPr>
          <p:cNvPr id="3" name="Rectangle 1"/>
          <p:cNvSpPr>
            <a:spLocks noChangeArrowheads="1"/>
          </p:cNvSpPr>
          <p:nvPr/>
        </p:nvSpPr>
        <p:spPr bwMode="auto">
          <a:xfrm>
            <a:off x="550907" y="1342802"/>
            <a:ext cx="595547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1" i="0" u="none" strike="noStrike" cap="none" normalizeH="0" baseline="0" dirty="0" smtClean="0">
                <a:ln>
                  <a:noFill/>
                </a:ln>
                <a:solidFill>
                  <a:schemeClr val="tx1"/>
                </a:solidFill>
                <a:effectLst/>
                <a:latin typeface="Arial" panose="020B0604020202020204" pitchFamily="34" charset="0"/>
              </a:rPr>
              <a:t>Videoda birebir görülenler:</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err="1" smtClean="0">
                <a:ln>
                  <a:noFill/>
                </a:ln>
                <a:solidFill>
                  <a:schemeClr val="tx1"/>
                </a:solidFill>
                <a:effectLst/>
                <a:latin typeface="Arial" panose="020B0604020202020204" pitchFamily="34" charset="0"/>
              </a:rPr>
              <a:t>Prompt</a:t>
            </a:r>
            <a:r>
              <a:rPr kumimoji="0" lang="tr-TR" altLang="tr-TR" sz="2400" b="0" i="0" u="none" strike="noStrike" cap="none" normalizeH="0" baseline="0" dirty="0" smtClean="0">
                <a:ln>
                  <a:noFill/>
                </a:ln>
                <a:solidFill>
                  <a:schemeClr val="tx1"/>
                </a:solidFill>
                <a:effectLst/>
                <a:latin typeface="Arial" panose="020B0604020202020204" pitchFamily="34" charset="0"/>
              </a:rPr>
              <a:t> yazımı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smtClean="0">
                <a:ln>
                  <a:noFill/>
                </a:ln>
                <a:solidFill>
                  <a:schemeClr val="tx1"/>
                </a:solidFill>
                <a:effectLst/>
                <a:latin typeface="Arial" panose="020B0604020202020204" pitchFamily="34" charset="0"/>
              </a:rPr>
              <a:t>Stil seçimi (</a:t>
            </a:r>
            <a:r>
              <a:rPr kumimoji="0" lang="tr-TR" altLang="tr-TR" sz="2400" b="0" i="0" u="none" strike="noStrike" cap="none" normalizeH="0" baseline="0" dirty="0" err="1" smtClean="0">
                <a:ln>
                  <a:noFill/>
                </a:ln>
                <a:solidFill>
                  <a:schemeClr val="tx1"/>
                </a:solidFill>
                <a:effectLst/>
                <a:latin typeface="Arial" panose="020B0604020202020204" pitchFamily="34" charset="0"/>
              </a:rPr>
              <a:t>haute</a:t>
            </a:r>
            <a:r>
              <a:rPr kumimoji="0" lang="tr-TR" altLang="tr-TR" sz="2400" b="0" i="0" u="none" strike="noStrike" cap="none" normalizeH="0" baseline="0" dirty="0" smtClean="0">
                <a:ln>
                  <a:noFill/>
                </a:ln>
                <a:solidFill>
                  <a:schemeClr val="tx1"/>
                </a:solidFill>
                <a:effectLst/>
                <a:latin typeface="Arial" panose="020B0604020202020204" pitchFamily="34" charset="0"/>
              </a:rPr>
              <a:t> </a:t>
            </a:r>
            <a:r>
              <a:rPr kumimoji="0" lang="tr-TR" altLang="tr-TR" sz="2400" b="0" i="0" u="none" strike="noStrike" cap="none" normalizeH="0" baseline="0" dirty="0" err="1" smtClean="0">
                <a:ln>
                  <a:noFill/>
                </a:ln>
                <a:solidFill>
                  <a:schemeClr val="tx1"/>
                </a:solidFill>
                <a:effectLst/>
                <a:latin typeface="Arial" panose="020B0604020202020204" pitchFamily="34" charset="0"/>
              </a:rPr>
              <a:t>couture</a:t>
            </a:r>
            <a:r>
              <a:rPr kumimoji="0" lang="tr-TR" altLang="tr-TR" sz="2400" b="0" i="0" u="none" strike="noStrike" cap="none" normalizeH="0" baseline="0" dirty="0" smtClean="0">
                <a:ln>
                  <a:noFill/>
                </a:ln>
                <a:solidFill>
                  <a:schemeClr val="tx1"/>
                </a:solidFill>
                <a:effectLst/>
                <a:latin typeface="Arial" panose="020B0604020202020204" pitchFamily="34" charset="0"/>
              </a:rPr>
              <a:t>, </a:t>
            </a:r>
            <a:r>
              <a:rPr kumimoji="0" lang="tr-TR" altLang="tr-TR" sz="2400" b="0" i="0" u="none" strike="noStrike" cap="none" normalizeH="0" baseline="0" dirty="0" err="1" smtClean="0">
                <a:ln>
                  <a:noFill/>
                </a:ln>
                <a:solidFill>
                  <a:schemeClr val="tx1"/>
                </a:solidFill>
                <a:effectLst/>
                <a:latin typeface="Arial" panose="020B0604020202020204" pitchFamily="34" charset="0"/>
              </a:rPr>
              <a:t>streetwear</a:t>
            </a:r>
            <a:r>
              <a:rPr kumimoji="0" lang="tr-TR" altLang="tr-TR" sz="2400" b="0" i="0" u="none" strike="noStrike" cap="none" normalizeH="0" baseline="0" dirty="0" smtClean="0">
                <a:ln>
                  <a:noFill/>
                </a:ln>
                <a:solidFill>
                  <a:schemeClr val="tx1"/>
                </a:solidFill>
                <a:effectLst/>
                <a:latin typeface="Arial" panose="020B0604020202020204" pitchFamily="34" charset="0"/>
              </a:rPr>
              <a:t> vb.)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smtClean="0">
                <a:ln>
                  <a:noFill/>
                </a:ln>
                <a:solidFill>
                  <a:schemeClr val="tx1"/>
                </a:solidFill>
                <a:effectLst/>
                <a:latin typeface="Arial" panose="020B0604020202020204" pitchFamily="34" charset="0"/>
              </a:rPr>
              <a:t>Varyasyon alma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smtClean="0">
                <a:ln>
                  <a:noFill/>
                </a:ln>
                <a:solidFill>
                  <a:schemeClr val="tx1"/>
                </a:solidFill>
                <a:effectLst/>
                <a:latin typeface="Arial" panose="020B0604020202020204" pitchFamily="34" charset="0"/>
              </a:rPr>
              <a:t>Görsel çıktıyı tasarıma dönüştürme</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chemeClr val="tx1"/>
                </a:solidFill>
                <a:effectLst/>
                <a:latin typeface="Arial" panose="020B0604020202020204" pitchFamily="34" charset="0"/>
              </a:rPr>
              <a:t>🔗 Arama:</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AI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fashion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design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prompt</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tutorial</a:t>
            </a:r>
            <a:r>
              <a:rPr kumimoji="0" lang="tr-TR" altLang="tr-TR" sz="2400" b="0" i="0" u="none" strike="noStrike" cap="none" normalizeH="0" baseline="0" dirty="0" smtClean="0">
                <a:ln>
                  <a:noFill/>
                </a:ln>
                <a:solidFill>
                  <a:schemeClr val="tx1"/>
                </a:solidFill>
                <a:effectLst/>
              </a:rPr>
              <a:t/>
            </a:r>
            <a:br>
              <a:rPr kumimoji="0" lang="tr-TR" altLang="tr-TR" sz="2400" b="0" i="0" u="none" strike="noStrike" cap="none" normalizeH="0" baseline="0" dirty="0" smtClean="0">
                <a:ln>
                  <a:noFill/>
                </a:ln>
                <a:solidFill>
                  <a:schemeClr val="tx1"/>
                </a:solidFill>
                <a:effectLst/>
              </a:rPr>
            </a:b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Midjourney</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fashion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design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demo</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75603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39850" y="509926"/>
            <a:ext cx="6331092" cy="523220"/>
          </a:xfrm>
          <a:prstGeom prst="rect">
            <a:avLst/>
          </a:prstGeom>
        </p:spPr>
        <p:txBody>
          <a:bodyPr wrap="none">
            <a:spAutoFit/>
          </a:bodyPr>
          <a:lstStyle/>
          <a:p>
            <a:r>
              <a:rPr lang="tr-TR" sz="2800" dirty="0" err="1" smtClean="0"/>
              <a:t>Runway</a:t>
            </a:r>
            <a:r>
              <a:rPr lang="tr-TR" sz="2800" dirty="0" smtClean="0"/>
              <a:t> ML – AI ile Sanal Podyum Videosu</a:t>
            </a:r>
            <a:endParaRPr lang="tr-TR" sz="2800" dirty="0"/>
          </a:p>
        </p:txBody>
      </p:sp>
      <p:sp>
        <p:nvSpPr>
          <p:cNvPr id="3" name="Rectangle 1"/>
          <p:cNvSpPr>
            <a:spLocks noChangeArrowheads="1"/>
          </p:cNvSpPr>
          <p:nvPr/>
        </p:nvSpPr>
        <p:spPr bwMode="auto">
          <a:xfrm>
            <a:off x="800100" y="1351619"/>
            <a:ext cx="56076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1" i="0" u="none" strike="noStrike" cap="none" normalizeH="0" baseline="0" dirty="0" smtClean="0">
                <a:ln>
                  <a:noFill/>
                </a:ln>
                <a:solidFill>
                  <a:schemeClr val="tx1"/>
                </a:solidFill>
                <a:effectLst/>
                <a:latin typeface="Arial" panose="020B0604020202020204" pitchFamily="34" charset="0"/>
              </a:rPr>
              <a:t>Gerçek uygulama:</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smtClean="0">
                <a:ln>
                  <a:noFill/>
                </a:ln>
                <a:solidFill>
                  <a:schemeClr val="tx1"/>
                </a:solidFill>
                <a:effectLst/>
                <a:latin typeface="Arial" panose="020B0604020202020204" pitchFamily="34" charset="0"/>
              </a:rPr>
              <a:t>Tasarım görselini yükleme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err="1" smtClean="0">
                <a:ln>
                  <a:noFill/>
                </a:ln>
                <a:solidFill>
                  <a:schemeClr val="tx1"/>
                </a:solidFill>
                <a:effectLst/>
                <a:latin typeface="Arial" panose="020B0604020202020204" pitchFamily="34" charset="0"/>
              </a:rPr>
              <a:t>Text</a:t>
            </a:r>
            <a:r>
              <a:rPr kumimoji="0" lang="tr-TR" altLang="tr-TR" sz="2400" b="0" i="0" u="none" strike="noStrike" cap="none" normalizeH="0" baseline="0" dirty="0" smtClean="0">
                <a:ln>
                  <a:noFill/>
                </a:ln>
                <a:solidFill>
                  <a:schemeClr val="tx1"/>
                </a:solidFill>
                <a:effectLst/>
                <a:latin typeface="Arial" panose="020B0604020202020204" pitchFamily="34" charset="0"/>
              </a:rPr>
              <a:t> → video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smtClean="0">
                <a:ln>
                  <a:noFill/>
                </a:ln>
                <a:solidFill>
                  <a:schemeClr val="tx1"/>
                </a:solidFill>
                <a:effectLst/>
                <a:latin typeface="Arial" panose="020B0604020202020204" pitchFamily="34" charset="0"/>
              </a:rPr>
              <a:t>AI ile </a:t>
            </a:r>
            <a:r>
              <a:rPr kumimoji="0" lang="tr-TR" altLang="tr-TR" sz="2400" b="1" i="0" u="none" strike="noStrike" cap="none" normalizeH="0" baseline="0" dirty="0" smtClean="0">
                <a:ln>
                  <a:noFill/>
                </a:ln>
                <a:solidFill>
                  <a:schemeClr val="tx1"/>
                </a:solidFill>
                <a:effectLst/>
                <a:latin typeface="Arial" panose="020B0604020202020204" pitchFamily="34" charset="0"/>
              </a:rPr>
              <a:t>podyum yürüyüşü animasyonu</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400" b="0" i="0" u="none" strike="noStrike" cap="none" normalizeH="0" baseline="0" dirty="0" smtClean="0">
                <a:ln>
                  <a:noFill/>
                </a:ln>
                <a:solidFill>
                  <a:schemeClr val="tx1"/>
                </a:solidFill>
                <a:effectLst/>
                <a:latin typeface="Arial" panose="020B0604020202020204" pitchFamily="34" charset="0"/>
              </a:rPr>
              <a:t>MP4 çıktı alma</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chemeClr val="tx1"/>
                </a:solidFill>
                <a:effectLst/>
                <a:latin typeface="Arial" panose="020B0604020202020204" pitchFamily="34" charset="0"/>
              </a:rPr>
              <a:t>🔗 Arama:</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Runway</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ML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fashion</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runway</a:t>
            </a:r>
            <a:r>
              <a:rPr kumimoji="0" lang="tr-TR" altLang="tr-TR" sz="2400" b="0" i="0" u="none" strike="noStrike" cap="none" normalizeH="0" baseline="0" dirty="0" smtClean="0">
                <a:ln>
                  <a:noFill/>
                </a:ln>
                <a:solidFill>
                  <a:schemeClr val="tx1"/>
                </a:solidFill>
                <a:effectLst/>
                <a:latin typeface="Arial Unicode MS" panose="020B0604020202020204" pitchFamily="34" charset="-128"/>
              </a:rPr>
              <a:t> </a:t>
            </a:r>
            <a:r>
              <a:rPr kumimoji="0" lang="tr-TR" altLang="tr-TR" sz="2400" b="0" i="0" u="none" strike="noStrike" cap="none" normalizeH="0" baseline="0" dirty="0" err="1" smtClean="0">
                <a:ln>
                  <a:noFill/>
                </a:ln>
                <a:solidFill>
                  <a:schemeClr val="tx1"/>
                </a:solidFill>
                <a:effectLst/>
                <a:latin typeface="Arial Unicode MS" panose="020B0604020202020204" pitchFamily="34" charset="-128"/>
              </a:rPr>
              <a:t>demo</a:t>
            </a:r>
            <a:endParaRPr kumimoji="0" lang="tr-TR" altLang="tr-TR"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49429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483577" y="724997"/>
            <a:ext cx="7598747"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1" i="0" u="none" strike="noStrike" cap="none" normalizeH="0" baseline="0" dirty="0" smtClean="0">
                <a:ln>
                  <a:noFill/>
                </a:ln>
                <a:solidFill>
                  <a:schemeClr val="tx1"/>
                </a:solidFill>
                <a:effectLst/>
                <a:latin typeface="Arial" panose="020B0604020202020204" pitchFamily="34" charset="0"/>
              </a:rPr>
              <a:t>Öğrenciler İçin “Gerçek Uygulama” Video Senaryosu (Örnek)</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1" i="0" u="none" strike="noStrike" cap="none" normalizeH="0" baseline="0" dirty="0" smtClean="0">
                <a:ln>
                  <a:noFill/>
                </a:ln>
                <a:solidFill>
                  <a:schemeClr val="tx1"/>
                </a:solidFill>
                <a:effectLst/>
                <a:latin typeface="Arial" panose="020B0604020202020204" pitchFamily="34" charset="0"/>
              </a:rPr>
              <a:t>Video 1 – AI ile Koleksiyon Oluşturma</a:t>
            </a:r>
            <a:endParaRPr kumimoji="0" lang="tr-TR" altLang="tr-TR"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tr-TR" altLang="tr-TR" sz="2000" b="0" i="0" u="none" strike="noStrike" cap="none" normalizeH="0" baseline="0" dirty="0" err="1" smtClean="0">
                <a:ln>
                  <a:noFill/>
                </a:ln>
                <a:solidFill>
                  <a:schemeClr val="tx1"/>
                </a:solidFill>
                <a:effectLst/>
                <a:latin typeface="Arial" panose="020B0604020202020204" pitchFamily="34" charset="0"/>
              </a:rPr>
              <a:t>Refabric’e</a:t>
            </a:r>
            <a:r>
              <a:rPr kumimoji="0" lang="tr-TR" altLang="tr-TR" sz="2000" b="0" i="0" u="none" strike="noStrike" cap="none" normalizeH="0" baseline="0" dirty="0" smtClean="0">
                <a:ln>
                  <a:noFill/>
                </a:ln>
                <a:solidFill>
                  <a:schemeClr val="tx1"/>
                </a:solidFill>
                <a:effectLst/>
                <a:latin typeface="Arial" panose="020B0604020202020204" pitchFamily="34" charset="0"/>
              </a:rPr>
              <a:t> giriş</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tr-TR" altLang="tr-TR" sz="2000" b="0" i="0" u="none" strike="noStrike" cap="none" normalizeH="0" baseline="0" dirty="0" smtClean="0">
                <a:ln>
                  <a:noFill/>
                </a:ln>
                <a:solidFill>
                  <a:schemeClr val="tx1"/>
                </a:solidFill>
                <a:effectLst/>
                <a:latin typeface="Arial" panose="020B0604020202020204" pitchFamily="34" charset="0"/>
              </a:rPr>
              <a:t>Sezon seçimi (SS 2026)</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tr-TR" altLang="tr-TR" sz="2000" b="0" i="0" u="none" strike="noStrike" cap="none" normalizeH="0" baseline="0" dirty="0" err="1" smtClean="0">
                <a:ln>
                  <a:noFill/>
                </a:ln>
                <a:solidFill>
                  <a:schemeClr val="tx1"/>
                </a:solidFill>
                <a:effectLst/>
                <a:latin typeface="Arial" panose="020B0604020202020204" pitchFamily="34" charset="0"/>
              </a:rPr>
              <a:t>Prompt</a:t>
            </a:r>
            <a:r>
              <a:rPr kumimoji="0" lang="tr-TR" altLang="tr-TR" sz="2000" b="0" i="0" u="none" strike="noStrike" cap="none" normalizeH="0" baseline="0" dirty="0" smtClean="0">
                <a:ln>
                  <a:noFill/>
                </a:ln>
                <a:solidFill>
                  <a:schemeClr val="tx1"/>
                </a:solidFill>
                <a:effectLst/>
                <a:latin typeface="Arial" panose="020B0604020202020204" pitchFamily="34" charset="0"/>
              </a:rPr>
              <a:t> yazımı</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tr-TR" altLang="tr-TR" sz="2000" b="0" i="0" u="none" strike="noStrike" cap="none" normalizeH="0" baseline="0" dirty="0" smtClean="0">
                <a:ln>
                  <a:noFill/>
                </a:ln>
                <a:solidFill>
                  <a:schemeClr val="tx1"/>
                </a:solidFill>
                <a:effectLst/>
                <a:latin typeface="Arial" panose="020B0604020202020204" pitchFamily="34" charset="0"/>
              </a:rPr>
              <a:t>AI tasarım üretimi</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tr-TR" altLang="tr-TR" sz="2000" b="0" i="0" u="none" strike="noStrike" cap="none" normalizeH="0" baseline="0" dirty="0" smtClean="0">
                <a:ln>
                  <a:noFill/>
                </a:ln>
                <a:solidFill>
                  <a:schemeClr val="tx1"/>
                </a:solidFill>
                <a:effectLst/>
                <a:latin typeface="Arial" panose="020B0604020202020204" pitchFamily="34" charset="0"/>
              </a:rPr>
              <a:t>Çıktıların incelenmesi</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1" i="0" u="none" strike="noStrike" cap="none" normalizeH="0" baseline="0" dirty="0" smtClean="0">
                <a:ln>
                  <a:noFill/>
                </a:ln>
                <a:solidFill>
                  <a:schemeClr val="tx1"/>
                </a:solidFill>
                <a:effectLst/>
                <a:latin typeface="Arial" panose="020B0604020202020204" pitchFamily="34" charset="0"/>
              </a:rPr>
              <a:t>Video 2 – 3D Giydirme</a:t>
            </a:r>
            <a:endParaRPr kumimoji="0" lang="tr-TR" altLang="tr-TR"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tr-TR" altLang="tr-TR" sz="2000" b="0" i="0" u="none" strike="noStrike" cap="none" normalizeH="0" baseline="0" dirty="0" smtClean="0">
                <a:ln>
                  <a:noFill/>
                </a:ln>
                <a:solidFill>
                  <a:schemeClr val="tx1"/>
                </a:solidFill>
                <a:effectLst/>
                <a:latin typeface="Arial" panose="020B0604020202020204" pitchFamily="34" charset="0"/>
              </a:rPr>
              <a:t>AI tasarımı CLO 3D’ye aktarma</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tr-TR" altLang="tr-TR" sz="2000" b="0" i="0" u="none" strike="noStrike" cap="none" normalizeH="0" baseline="0" dirty="0" err="1" smtClean="0">
                <a:ln>
                  <a:noFill/>
                </a:ln>
                <a:solidFill>
                  <a:schemeClr val="tx1"/>
                </a:solidFill>
                <a:effectLst/>
                <a:latin typeface="Arial" panose="020B0604020202020204" pitchFamily="34" charset="0"/>
              </a:rPr>
              <a:t>Avatar</a:t>
            </a:r>
            <a:r>
              <a:rPr kumimoji="0" lang="tr-TR" altLang="tr-TR" sz="2000" b="0" i="0" u="none" strike="noStrike" cap="none" normalizeH="0" baseline="0" dirty="0" smtClean="0">
                <a:ln>
                  <a:noFill/>
                </a:ln>
                <a:solidFill>
                  <a:schemeClr val="tx1"/>
                </a:solidFill>
                <a:effectLst/>
                <a:latin typeface="Arial" panose="020B0604020202020204" pitchFamily="34" charset="0"/>
              </a:rPr>
              <a:t> üzerinde giydirme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tr-TR" altLang="tr-TR" sz="2000" b="0" i="0" u="none" strike="noStrike" cap="none" normalizeH="0" baseline="0" dirty="0" smtClean="0">
                <a:ln>
                  <a:noFill/>
                </a:ln>
                <a:solidFill>
                  <a:schemeClr val="tx1"/>
                </a:solidFill>
                <a:effectLst/>
                <a:latin typeface="Arial" panose="020B0604020202020204" pitchFamily="34" charset="0"/>
              </a:rPr>
              <a:t>Yürüyüş simülasyonu</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1" i="0" u="none" strike="noStrike" cap="none" normalizeH="0" baseline="0" dirty="0" smtClean="0">
                <a:ln>
                  <a:noFill/>
                </a:ln>
                <a:solidFill>
                  <a:schemeClr val="tx1"/>
                </a:solidFill>
                <a:effectLst/>
                <a:latin typeface="Arial" panose="020B0604020202020204" pitchFamily="34" charset="0"/>
              </a:rPr>
              <a:t>Video 3 – Sanal Podyum</a:t>
            </a:r>
            <a:endParaRPr kumimoji="0" lang="tr-TR" altLang="tr-TR"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tr-TR" altLang="tr-TR" sz="2000" b="0" i="0" u="none" strike="noStrike" cap="none" normalizeH="0" baseline="0" dirty="0" err="1" smtClean="0">
                <a:ln>
                  <a:noFill/>
                </a:ln>
                <a:solidFill>
                  <a:schemeClr val="tx1"/>
                </a:solidFill>
                <a:effectLst/>
                <a:latin typeface="Arial" panose="020B0604020202020204" pitchFamily="34" charset="0"/>
              </a:rPr>
              <a:t>Runway</a:t>
            </a:r>
            <a:r>
              <a:rPr kumimoji="0" lang="tr-TR" altLang="tr-TR" sz="2000" b="0" i="0" u="none" strike="noStrike" cap="none" normalizeH="0" baseline="0" dirty="0" smtClean="0">
                <a:ln>
                  <a:noFill/>
                </a:ln>
                <a:solidFill>
                  <a:schemeClr val="tx1"/>
                </a:solidFill>
                <a:effectLst/>
                <a:latin typeface="Arial" panose="020B0604020202020204" pitchFamily="34" charset="0"/>
              </a:rPr>
              <a:t> </a:t>
            </a:r>
            <a:r>
              <a:rPr kumimoji="0" lang="tr-TR" altLang="tr-TR" sz="2000" b="0" i="0" u="none" strike="noStrike" cap="none" normalizeH="0" baseline="0" dirty="0" err="1" smtClean="0">
                <a:ln>
                  <a:noFill/>
                </a:ln>
                <a:solidFill>
                  <a:schemeClr val="tx1"/>
                </a:solidFill>
                <a:effectLst/>
                <a:latin typeface="Arial" panose="020B0604020202020204" pitchFamily="34" charset="0"/>
              </a:rPr>
              <a:t>ML’ye</a:t>
            </a:r>
            <a:r>
              <a:rPr kumimoji="0" lang="tr-TR" altLang="tr-TR" sz="2000" b="0" i="0" u="none" strike="noStrike" cap="none" normalizeH="0" baseline="0" dirty="0" smtClean="0">
                <a:ln>
                  <a:noFill/>
                </a:ln>
                <a:solidFill>
                  <a:schemeClr val="tx1"/>
                </a:solidFill>
                <a:effectLst/>
                <a:latin typeface="Arial" panose="020B0604020202020204" pitchFamily="34" charset="0"/>
              </a:rPr>
              <a:t> yükleme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tr-TR" altLang="tr-TR" sz="2000" b="0" i="0" u="none" strike="noStrike" cap="none" normalizeH="0" baseline="0" dirty="0" err="1" smtClean="0">
                <a:ln>
                  <a:noFill/>
                </a:ln>
                <a:solidFill>
                  <a:schemeClr val="tx1"/>
                </a:solidFill>
                <a:effectLst/>
                <a:latin typeface="Arial" panose="020B0604020202020204" pitchFamily="34" charset="0"/>
              </a:rPr>
              <a:t>Text</a:t>
            </a:r>
            <a:r>
              <a:rPr kumimoji="0" lang="tr-TR" altLang="tr-TR" sz="2000" b="0" i="0" u="none" strike="noStrike" cap="none" normalizeH="0" baseline="0" dirty="0" smtClean="0">
                <a:ln>
                  <a:noFill/>
                </a:ln>
                <a:solidFill>
                  <a:schemeClr val="tx1"/>
                </a:solidFill>
                <a:effectLst/>
                <a:latin typeface="Arial" panose="020B0604020202020204" pitchFamily="34" charset="0"/>
              </a:rPr>
              <a:t>-</a:t>
            </a:r>
            <a:r>
              <a:rPr kumimoji="0" lang="tr-TR" altLang="tr-TR" sz="2000" b="0" i="0" u="none" strike="noStrike" cap="none" normalizeH="0" baseline="0" dirty="0" err="1" smtClean="0">
                <a:ln>
                  <a:noFill/>
                </a:ln>
                <a:solidFill>
                  <a:schemeClr val="tx1"/>
                </a:solidFill>
                <a:effectLst/>
                <a:latin typeface="Arial" panose="020B0604020202020204" pitchFamily="34" charset="0"/>
              </a:rPr>
              <a:t>to</a:t>
            </a:r>
            <a:r>
              <a:rPr kumimoji="0" lang="tr-TR" altLang="tr-TR" sz="2000" b="0" i="0" u="none" strike="noStrike" cap="none" normalizeH="0" baseline="0" dirty="0" smtClean="0">
                <a:ln>
                  <a:noFill/>
                </a:ln>
                <a:solidFill>
                  <a:schemeClr val="tx1"/>
                </a:solidFill>
                <a:effectLst/>
                <a:latin typeface="Arial" panose="020B0604020202020204" pitchFamily="34" charset="0"/>
              </a:rPr>
              <a:t>-video</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tr-TR" altLang="tr-TR" sz="2000" b="0" i="0" u="none" strike="noStrike" cap="none" normalizeH="0" baseline="0" dirty="0" smtClean="0">
                <a:ln>
                  <a:noFill/>
                </a:ln>
                <a:solidFill>
                  <a:schemeClr val="tx1"/>
                </a:solidFill>
                <a:effectLst/>
                <a:latin typeface="Arial" panose="020B0604020202020204" pitchFamily="34" charset="0"/>
              </a:rPr>
              <a:t>Final podyum videosu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6512369"/>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1073</Words>
  <Application>Microsoft Office PowerPoint</Application>
  <PresentationFormat>Geniş ekran</PresentationFormat>
  <Paragraphs>171</Paragraphs>
  <Slides>24</Slides>
  <Notes>0</Notes>
  <HiddenSlides>0</HiddenSlides>
  <MMClips>0</MMClips>
  <ScaleCrop>false</ScaleCrop>
  <HeadingPairs>
    <vt:vector size="6" baseType="variant">
      <vt:variant>
        <vt:lpstr>Kullanılan Yazı Tipleri</vt:lpstr>
      </vt:variant>
      <vt:variant>
        <vt:i4>14</vt:i4>
      </vt:variant>
      <vt:variant>
        <vt:lpstr>Tema</vt:lpstr>
      </vt:variant>
      <vt:variant>
        <vt:i4>1</vt:i4>
      </vt:variant>
      <vt:variant>
        <vt:lpstr>Slayt Başlıkları</vt:lpstr>
      </vt:variant>
      <vt:variant>
        <vt:i4>24</vt:i4>
      </vt:variant>
    </vt:vector>
  </HeadingPairs>
  <TitlesOfParts>
    <vt:vector size="39" baseType="lpstr">
      <vt:lpstr>Arial Unicode MS</vt:lpstr>
      <vt:lpstr>Arial</vt:lpstr>
      <vt:lpstr>Calibri</vt:lpstr>
      <vt:lpstr>Calibri Light</vt:lpstr>
      <vt:lpstr>DM Sans</vt:lpstr>
      <vt:lpstr>Georgia</vt:lpstr>
      <vt:lpstr>Inter</vt:lpstr>
      <vt:lpstr>kanit</vt:lpstr>
      <vt:lpstr>Montserrat</vt:lpstr>
      <vt:lpstr>Onest</vt:lpstr>
      <vt:lpstr>Prata</vt:lpstr>
      <vt:lpstr>Sora</vt:lpstr>
      <vt:lpstr>TT Photoroom</vt:lpstr>
      <vt:lpstr>ui-sans-serif</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Mehmet</dc:creator>
  <cp:lastModifiedBy>Mehmet</cp:lastModifiedBy>
  <cp:revision>16</cp:revision>
  <dcterms:created xsi:type="dcterms:W3CDTF">2026-01-03T09:44:19Z</dcterms:created>
  <dcterms:modified xsi:type="dcterms:W3CDTF">2026-01-18T16:31:14Z</dcterms:modified>
</cp:coreProperties>
</file>